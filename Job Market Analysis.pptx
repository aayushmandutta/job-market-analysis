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8" r:id="rId14"/>
    <p:sldId id="282" r:id="rId15"/>
    <p:sldId id="268" r:id="rId16"/>
    <p:sldId id="277" r:id="rId17"/>
    <p:sldId id="280" r:id="rId18"/>
    <p:sldId id="281" r:id="rId19"/>
    <p:sldId id="276" r:id="rId20"/>
    <p:sldId id="271" r:id="rId21"/>
    <p:sldId id="279" r:id="rId22"/>
    <p:sldId id="270" r:id="rId23"/>
    <p:sldId id="272" r:id="rId24"/>
    <p:sldId id="273" r:id="rId25"/>
    <p:sldId id="274" r:id="rId26"/>
    <p:sldId id="27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333" autoAdjust="0"/>
  </p:normalViewPr>
  <p:slideViewPr>
    <p:cSldViewPr snapToGrid="0">
      <p:cViewPr varScale="1">
        <p:scale>
          <a:sx n="73" d="100"/>
          <a:sy n="73" d="100"/>
        </p:scale>
        <p:origin x="404" y="3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2F30167-25F9-4A40-B0C0-79EB49FA244E}" type="slidenum">
              <a:rPr lang="en-IN" smtClean="0"/>
              <a:t>‹#›</a:t>
            </a:fld>
            <a:endParaRPr lang="en-IN" dirty="0"/>
          </a:p>
        </p:txBody>
      </p:sp>
    </p:spTree>
    <p:extLst>
      <p:ext uri="{BB962C8B-B14F-4D97-AF65-F5344CB8AC3E}">
        <p14:creationId xmlns:p14="http://schemas.microsoft.com/office/powerpoint/2010/main" val="2410274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Segoe UI" panose="020B0502040204020203" pitchFamily="34" charset="0"/>
                <a:cs typeface="Segoe UI" panose="020B0502040204020203" pitchFamily="34" charset="0"/>
              </a:defRPr>
            </a:lvl1pPr>
          </a:lstStyle>
          <a:p>
            <a:r>
              <a:rPr lang="en-GB" dirty="0"/>
              <a:t>Click to edit Master title style</a:t>
            </a:r>
            <a:endParaRPr lang="en-US" dirty="0"/>
          </a:p>
        </p:txBody>
      </p:sp>
      <p:sp>
        <p:nvSpPr>
          <p:cNvPr id="3" name="Content Placeholder 2"/>
          <p:cNvSpPr>
            <a:spLocks noGrp="1"/>
          </p:cNvSpPr>
          <p:nvPr>
            <p:ph idx="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vl2pPr>
              <a:defRPr>
                <a:latin typeface="Calibri" panose="020F0502020204030204" pitchFamily="34" charset="0"/>
                <a:ea typeface="Calibri" panose="020F0502020204030204" pitchFamily="34" charset="0"/>
                <a:cs typeface="Calibri" panose="020F0502020204030204" pitchFamily="34" charset="0"/>
              </a:defRPr>
            </a:lvl2pPr>
            <a:lvl3pPr>
              <a:defRPr>
                <a:latin typeface="Calibri" panose="020F0502020204030204" pitchFamily="34" charset="0"/>
                <a:ea typeface="Calibri" panose="020F0502020204030204" pitchFamily="34" charset="0"/>
                <a:cs typeface="Calibri" panose="020F0502020204030204" pitchFamily="34" charset="0"/>
              </a:defRPr>
            </a:lvl3pPr>
            <a:lvl4pPr>
              <a:defRPr>
                <a:latin typeface="Calibri" panose="020F0502020204030204" pitchFamily="34" charset="0"/>
                <a:ea typeface="Calibri" panose="020F0502020204030204" pitchFamily="34" charset="0"/>
                <a:cs typeface="Calibri" panose="020F0502020204030204" pitchFamily="34" charset="0"/>
              </a:defRPr>
            </a:lvl4pPr>
            <a:lvl5pPr>
              <a:defRPr>
                <a:latin typeface="Calibri" panose="020F0502020204030204" pitchFamily="34" charset="0"/>
                <a:ea typeface="Calibri" panose="020F0502020204030204" pitchFamily="34" charset="0"/>
                <a:cs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2F30167-25F9-4A40-B0C0-79EB49FA244E}" type="slidenum">
              <a:rPr lang="en-IN" smtClean="0"/>
              <a:t>‹#›</a:t>
            </a:fld>
            <a:endParaRPr lang="en-IN" dirty="0"/>
          </a:p>
        </p:txBody>
      </p:sp>
    </p:spTree>
    <p:extLst>
      <p:ext uri="{BB962C8B-B14F-4D97-AF65-F5344CB8AC3E}">
        <p14:creationId xmlns:p14="http://schemas.microsoft.com/office/powerpoint/2010/main" val="678189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2F30167-25F9-4A40-B0C0-79EB49FA244E}" type="slidenum">
              <a:rPr lang="en-IN" smtClean="0"/>
              <a:t>‹#›</a:t>
            </a:fld>
            <a:endParaRPr lang="en-IN" dirty="0"/>
          </a:p>
        </p:txBody>
      </p:sp>
    </p:spTree>
    <p:extLst>
      <p:ext uri="{BB962C8B-B14F-4D97-AF65-F5344CB8AC3E}">
        <p14:creationId xmlns:p14="http://schemas.microsoft.com/office/powerpoint/2010/main" val="1474339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2F30167-25F9-4A40-B0C0-79EB49FA244E}" type="slidenum">
              <a:rPr lang="en-IN" smtClean="0"/>
              <a:t>‹#›</a:t>
            </a:fld>
            <a:endParaRPr lang="en-IN" dirty="0"/>
          </a:p>
        </p:txBody>
      </p:sp>
    </p:spTree>
    <p:extLst>
      <p:ext uri="{BB962C8B-B14F-4D97-AF65-F5344CB8AC3E}">
        <p14:creationId xmlns:p14="http://schemas.microsoft.com/office/powerpoint/2010/main" val="3578315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2F30167-25F9-4A40-B0C0-79EB49FA244E}" type="slidenum">
              <a:rPr lang="en-IN" smtClean="0"/>
              <a:t>‹#›</a:t>
            </a:fld>
            <a:endParaRPr lang="en-IN" dirty="0"/>
          </a:p>
        </p:txBody>
      </p:sp>
    </p:spTree>
    <p:extLst>
      <p:ext uri="{BB962C8B-B14F-4D97-AF65-F5344CB8AC3E}">
        <p14:creationId xmlns:p14="http://schemas.microsoft.com/office/powerpoint/2010/main" val="130150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2F30167-25F9-4A40-B0C0-79EB49FA244E}" type="slidenum">
              <a:rPr lang="en-IN" smtClean="0"/>
              <a:t>‹#›</a:t>
            </a:fld>
            <a:endParaRPr lang="en-IN" dirty="0"/>
          </a:p>
        </p:txBody>
      </p:sp>
    </p:spTree>
    <p:extLst>
      <p:ext uri="{BB962C8B-B14F-4D97-AF65-F5344CB8AC3E}">
        <p14:creationId xmlns:p14="http://schemas.microsoft.com/office/powerpoint/2010/main" val="1846931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2F30167-25F9-4A40-B0C0-79EB49FA244E}" type="slidenum">
              <a:rPr lang="en-IN" smtClean="0"/>
              <a:t>‹#›</a:t>
            </a:fld>
            <a:endParaRPr lang="en-IN" dirty="0"/>
          </a:p>
        </p:txBody>
      </p:sp>
    </p:spTree>
    <p:extLst>
      <p:ext uri="{BB962C8B-B14F-4D97-AF65-F5344CB8AC3E}">
        <p14:creationId xmlns:p14="http://schemas.microsoft.com/office/powerpoint/2010/main" val="1022869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2F30167-25F9-4A40-B0C0-79EB49FA244E}" type="slidenum">
              <a:rPr lang="en-IN" smtClean="0"/>
              <a:t>‹#›</a:t>
            </a:fld>
            <a:endParaRPr lang="en-IN" dirty="0"/>
          </a:p>
        </p:txBody>
      </p:sp>
    </p:spTree>
    <p:extLst>
      <p:ext uri="{BB962C8B-B14F-4D97-AF65-F5344CB8AC3E}">
        <p14:creationId xmlns:p14="http://schemas.microsoft.com/office/powerpoint/2010/main" val="2301141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dirty="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2F30167-25F9-4A40-B0C0-79EB49FA244E}" type="slidenum">
              <a:rPr lang="en-IN" smtClean="0"/>
              <a:t>‹#›</a:t>
            </a:fld>
            <a:endParaRPr lang="en-IN" dirty="0"/>
          </a:p>
        </p:txBody>
      </p:sp>
      <p:sp>
        <p:nvSpPr>
          <p:cNvPr id="5" name="Date Placeholder 4"/>
          <p:cNvSpPr>
            <a:spLocks noGrp="1"/>
          </p:cNvSpPr>
          <p:nvPr>
            <p:ph type="dt" sz="half" idx="10"/>
          </p:nvPr>
        </p:nvSpPr>
        <p:spPr/>
        <p:txBody>
          <a:bodyPr/>
          <a:lstStyle/>
          <a:p>
            <a:fld id="{A314CB19-08FD-4A06-8A03-5D61C096F71D}" type="datetimeFigureOut">
              <a:rPr lang="en-IN" smtClean="0"/>
              <a:t>05-05-2026</a:t>
            </a:fld>
            <a:endParaRPr lang="en-IN" dirty="0"/>
          </a:p>
        </p:txBody>
      </p:sp>
    </p:spTree>
    <p:extLst>
      <p:ext uri="{BB962C8B-B14F-4D97-AF65-F5344CB8AC3E}">
        <p14:creationId xmlns:p14="http://schemas.microsoft.com/office/powerpoint/2010/main" val="1354212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2F30167-25F9-4A40-B0C0-79EB49FA244E}" type="slidenum">
              <a:rPr lang="en-IN" smtClean="0"/>
              <a:t>‹#›</a:t>
            </a:fld>
            <a:endParaRPr lang="en-IN" dirty="0"/>
          </a:p>
        </p:txBody>
      </p:sp>
    </p:spTree>
    <p:extLst>
      <p:ext uri="{BB962C8B-B14F-4D97-AF65-F5344CB8AC3E}">
        <p14:creationId xmlns:p14="http://schemas.microsoft.com/office/powerpoint/2010/main" val="3506138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2F30167-25F9-4A40-B0C0-79EB49FA244E}"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76613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2F30167-25F9-4A40-B0C0-79EB49FA244E}" type="slidenum">
              <a:rPr lang="en-IN" smtClean="0"/>
              <a:t>‹#›</a:t>
            </a:fld>
            <a:endParaRPr lang="en-IN" dirty="0"/>
          </a:p>
        </p:txBody>
      </p:sp>
    </p:spTree>
    <p:extLst>
      <p:ext uri="{BB962C8B-B14F-4D97-AF65-F5344CB8AC3E}">
        <p14:creationId xmlns:p14="http://schemas.microsoft.com/office/powerpoint/2010/main" val="27747175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2F30167-25F9-4A40-B0C0-79EB49FA244E}"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465189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2F30167-25F9-4A40-B0C0-79EB49FA244E}" type="slidenum">
              <a:rPr lang="en-IN" smtClean="0"/>
              <a:t>‹#›</a:t>
            </a:fld>
            <a:endParaRPr lang="en-IN" dirty="0"/>
          </a:p>
        </p:txBody>
      </p:sp>
    </p:spTree>
    <p:extLst>
      <p:ext uri="{BB962C8B-B14F-4D97-AF65-F5344CB8AC3E}">
        <p14:creationId xmlns:p14="http://schemas.microsoft.com/office/powerpoint/2010/main" val="38448971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2F30167-25F9-4A40-B0C0-79EB49FA244E}" type="slidenum">
              <a:rPr lang="en-IN" smtClean="0"/>
              <a:t>‹#›</a:t>
            </a:fld>
            <a:endParaRPr lang="en-IN" dirty="0"/>
          </a:p>
        </p:txBody>
      </p:sp>
    </p:spTree>
    <p:extLst>
      <p:ext uri="{BB962C8B-B14F-4D97-AF65-F5344CB8AC3E}">
        <p14:creationId xmlns:p14="http://schemas.microsoft.com/office/powerpoint/2010/main" val="1157331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314CB19-08FD-4A06-8A03-5D61C096F71D}" type="datetimeFigureOut">
              <a:rPr lang="en-IN" smtClean="0"/>
              <a:t>05-05-2026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2F30167-25F9-4A40-B0C0-79EB49FA244E}" type="slidenum">
              <a:rPr lang="en-IN" smtClean="0"/>
              <a:t>‹#›</a:t>
            </a:fld>
            <a:endParaRPr lang="en-IN" dirty="0"/>
          </a:p>
        </p:txBody>
      </p:sp>
    </p:spTree>
    <p:extLst>
      <p:ext uri="{BB962C8B-B14F-4D97-AF65-F5344CB8AC3E}">
        <p14:creationId xmlns:p14="http://schemas.microsoft.com/office/powerpoint/2010/main" val="1470146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314CB19-08FD-4A06-8A03-5D61C096F71D}" type="datetimeFigureOut">
              <a:rPr lang="en-IN" smtClean="0"/>
              <a:t>05-05-2026</a:t>
            </a:fld>
            <a:endParaRPr lang="en-IN"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2F30167-25F9-4A40-B0C0-79EB49FA244E}" type="slidenum">
              <a:rPr lang="en-IN" smtClean="0"/>
              <a:t>‹#›</a:t>
            </a:fld>
            <a:endParaRPr lang="en-IN" dirty="0"/>
          </a:p>
        </p:txBody>
      </p:sp>
    </p:spTree>
    <p:extLst>
      <p:ext uri="{BB962C8B-B14F-4D97-AF65-F5344CB8AC3E}">
        <p14:creationId xmlns:p14="http://schemas.microsoft.com/office/powerpoint/2010/main" val="122735006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F4A32-85DD-1DDB-B558-6886DEEC7C22}"/>
              </a:ext>
            </a:extLst>
          </p:cNvPr>
          <p:cNvSpPr>
            <a:spLocks noGrp="1"/>
          </p:cNvSpPr>
          <p:nvPr>
            <p:ph type="ctrTitle"/>
          </p:nvPr>
        </p:nvSpPr>
        <p:spPr/>
        <p:txBody>
          <a:bodyPr/>
          <a:lstStyle/>
          <a:p>
            <a:r>
              <a:rPr lang="en-US" dirty="0"/>
              <a:t>Job Market Analysis</a:t>
            </a:r>
            <a:br>
              <a:rPr lang="en-US" dirty="0"/>
            </a:br>
            <a:endParaRPr lang="en-IN" dirty="0"/>
          </a:p>
        </p:txBody>
      </p:sp>
      <p:sp>
        <p:nvSpPr>
          <p:cNvPr id="3" name="Subtitle 2">
            <a:extLst>
              <a:ext uri="{FF2B5EF4-FFF2-40B4-BE49-F238E27FC236}">
                <a16:creationId xmlns:a16="http://schemas.microsoft.com/office/drawing/2014/main" id="{090BE7F4-EAE7-36F1-8E7B-1C1FA9C7F2D5}"/>
              </a:ext>
            </a:extLst>
          </p:cNvPr>
          <p:cNvSpPr>
            <a:spLocks noGrp="1"/>
          </p:cNvSpPr>
          <p:nvPr>
            <p:ph type="subTitle" idx="1"/>
          </p:nvPr>
        </p:nvSpPr>
        <p:spPr>
          <a:xfrm>
            <a:off x="1507067" y="3335215"/>
            <a:ext cx="7766936" cy="1096899"/>
          </a:xfrm>
        </p:spPr>
        <p:txBody>
          <a:bodyPr/>
          <a:lstStyle/>
          <a:p>
            <a:r>
              <a:rPr lang="en-US" dirty="0"/>
              <a:t>Data-Driven insights into job Trends and Salaries</a:t>
            </a:r>
            <a:endParaRPr lang="en-IN" dirty="0"/>
          </a:p>
        </p:txBody>
      </p:sp>
      <p:sp>
        <p:nvSpPr>
          <p:cNvPr id="4" name="TextBox 3">
            <a:extLst>
              <a:ext uri="{FF2B5EF4-FFF2-40B4-BE49-F238E27FC236}">
                <a16:creationId xmlns:a16="http://schemas.microsoft.com/office/drawing/2014/main" id="{6917857B-47AB-0789-A586-02EA11C9E079}"/>
              </a:ext>
            </a:extLst>
          </p:cNvPr>
          <p:cNvSpPr txBox="1"/>
          <p:nvPr/>
        </p:nvSpPr>
        <p:spPr>
          <a:xfrm>
            <a:off x="934278" y="4993463"/>
            <a:ext cx="2582951" cy="646331"/>
          </a:xfrm>
          <a:prstGeom prst="rect">
            <a:avLst/>
          </a:prstGeom>
          <a:noFill/>
        </p:spPr>
        <p:txBody>
          <a:bodyPr wrap="none" rtlCol="0">
            <a:spAutoFit/>
          </a:bodyPr>
          <a:lstStyle/>
          <a:p>
            <a:r>
              <a:rPr lang="en-US" dirty="0"/>
              <a:t>Name: </a:t>
            </a:r>
            <a:r>
              <a:rPr lang="en-US" dirty="0" err="1"/>
              <a:t>Ayushman</a:t>
            </a:r>
            <a:r>
              <a:rPr lang="en-US" dirty="0"/>
              <a:t> </a:t>
            </a:r>
            <a:r>
              <a:rPr lang="en-US" dirty="0" err="1"/>
              <a:t>Dutta</a:t>
            </a:r>
            <a:endParaRPr lang="en-US" dirty="0"/>
          </a:p>
          <a:p>
            <a:r>
              <a:rPr lang="en-US" dirty="0"/>
              <a:t>Name: </a:t>
            </a:r>
            <a:r>
              <a:rPr lang="en-US" dirty="0" err="1"/>
              <a:t>Jayavelu</a:t>
            </a:r>
            <a:r>
              <a:rPr lang="en-US" dirty="0"/>
              <a:t> D</a:t>
            </a:r>
          </a:p>
        </p:txBody>
      </p:sp>
    </p:spTree>
    <p:extLst>
      <p:ext uri="{BB962C8B-B14F-4D97-AF65-F5344CB8AC3E}">
        <p14:creationId xmlns:p14="http://schemas.microsoft.com/office/powerpoint/2010/main" val="164902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092D0-2AB4-79EC-15B5-485079D57557}"/>
              </a:ext>
            </a:extLst>
          </p:cNvPr>
          <p:cNvSpPr>
            <a:spLocks noGrp="1"/>
          </p:cNvSpPr>
          <p:nvPr>
            <p:ph type="title"/>
          </p:nvPr>
        </p:nvSpPr>
        <p:spPr/>
        <p:txBody>
          <a:bodyPr/>
          <a:lstStyle/>
          <a:p>
            <a:r>
              <a:rPr lang="en-US" b="1" dirty="0"/>
              <a:t>Introduction to Job Market Analysis</a:t>
            </a:r>
            <a:endParaRPr lang="en-IN" b="1" dirty="0"/>
          </a:p>
        </p:txBody>
      </p:sp>
      <p:sp>
        <p:nvSpPr>
          <p:cNvPr id="3" name="Content Placeholder 2">
            <a:extLst>
              <a:ext uri="{FF2B5EF4-FFF2-40B4-BE49-F238E27FC236}">
                <a16:creationId xmlns:a16="http://schemas.microsoft.com/office/drawing/2014/main" id="{3BBE1CE2-EBE9-1E80-1E69-B6D98A39F7A3}"/>
              </a:ext>
            </a:extLst>
          </p:cNvPr>
          <p:cNvSpPr>
            <a:spLocks noGrp="1"/>
          </p:cNvSpPr>
          <p:nvPr>
            <p:ph idx="1"/>
          </p:nvPr>
        </p:nvSpPr>
        <p:spPr/>
        <p:txBody>
          <a:bodyPr/>
          <a:lstStyle/>
          <a:p>
            <a:r>
              <a:rPr lang="en-US" dirty="0"/>
              <a:t>Job market analysis involves examining employment trends, salary distributions, and skill demands across industries and locations. In today’s data-driven world, such analysis helps job seekers, employers, and policymakers make informed decisions.</a:t>
            </a:r>
          </a:p>
          <a:p>
            <a:r>
              <a:rPr lang="en-US" dirty="0"/>
              <a:t>This project leverages data analytics tools to uncover meaningful insights from job listings, focusing on salary patterns, hiring trends, and skill requirements.</a:t>
            </a:r>
          </a:p>
          <a:p>
            <a:endParaRPr lang="en-IN" dirty="0"/>
          </a:p>
        </p:txBody>
      </p:sp>
    </p:spTree>
    <p:extLst>
      <p:ext uri="{BB962C8B-B14F-4D97-AF65-F5344CB8AC3E}">
        <p14:creationId xmlns:p14="http://schemas.microsoft.com/office/powerpoint/2010/main" val="1312722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5BF87-6719-8F8F-0D35-E16DE1ACF138}"/>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1EDA02F0-530E-1C4B-87B5-745E00063E5C}"/>
              </a:ext>
            </a:extLst>
          </p:cNvPr>
          <p:cNvSpPr>
            <a:spLocks noGrp="1"/>
          </p:cNvSpPr>
          <p:nvPr>
            <p:ph idx="1"/>
          </p:nvPr>
        </p:nvSpPr>
        <p:spPr/>
        <p:txBody>
          <a:bodyPr/>
          <a:lstStyle/>
          <a:p>
            <a:r>
              <a:rPr lang="en-US" dirty="0"/>
              <a:t>The job market is highly dynamic, with varying salary structures, skill demands, and hiring trends across regions and industries. However, raw job data is often unstructured and difficult to interpret.</a:t>
            </a:r>
          </a:p>
          <a:p>
            <a:r>
              <a:rPr lang="en-US" dirty="0"/>
              <a:t>This project aims to transform raw job listing data into meaningful insights that can help understand:</a:t>
            </a:r>
          </a:p>
          <a:p>
            <a:r>
              <a:rPr lang="en-US" dirty="0"/>
              <a:t>Which skills are in demand </a:t>
            </a:r>
          </a:p>
          <a:p>
            <a:r>
              <a:rPr lang="en-US" dirty="0"/>
              <a:t>Which locations offer better opportunities </a:t>
            </a:r>
          </a:p>
          <a:p>
            <a:r>
              <a:rPr lang="en-US" dirty="0"/>
              <a:t>How salaries vary across roles and education levels</a:t>
            </a:r>
          </a:p>
          <a:p>
            <a:endParaRPr lang="en-IN" dirty="0"/>
          </a:p>
        </p:txBody>
      </p:sp>
    </p:spTree>
    <p:extLst>
      <p:ext uri="{BB962C8B-B14F-4D97-AF65-F5344CB8AC3E}">
        <p14:creationId xmlns:p14="http://schemas.microsoft.com/office/powerpoint/2010/main" val="1161355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73923-FEC3-F129-59EC-9F9EBFBA1BA4}"/>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9CF052DC-752F-C664-ECC3-E905E69D2494}"/>
              </a:ext>
            </a:extLst>
          </p:cNvPr>
          <p:cNvSpPr>
            <a:spLocks noGrp="1"/>
          </p:cNvSpPr>
          <p:nvPr>
            <p:ph idx="1"/>
          </p:nvPr>
        </p:nvSpPr>
        <p:spPr/>
        <p:txBody>
          <a:bodyPr/>
          <a:lstStyle/>
          <a:p>
            <a:r>
              <a:rPr lang="en-US" dirty="0"/>
              <a:t>The primary objectives of this project are:</a:t>
            </a:r>
          </a:p>
          <a:p>
            <a:r>
              <a:rPr lang="en-US" dirty="0"/>
              <a:t>To analyze job distribution across different states </a:t>
            </a:r>
          </a:p>
          <a:p>
            <a:r>
              <a:rPr lang="en-US" dirty="0"/>
              <a:t>To study salary trends across job roles and locations </a:t>
            </a:r>
          </a:p>
          <a:p>
            <a:r>
              <a:rPr lang="en-US" dirty="0"/>
              <a:t>To identify top industries and companies hiring </a:t>
            </a:r>
          </a:p>
          <a:p>
            <a:r>
              <a:rPr lang="en-US" dirty="0"/>
              <a:t>To evaluate skill demand in the job market </a:t>
            </a:r>
          </a:p>
          <a:p>
            <a:r>
              <a:rPr lang="en-US" dirty="0"/>
              <a:t>To understand the relationship between education and salary</a:t>
            </a:r>
          </a:p>
          <a:p>
            <a:endParaRPr lang="en-IN" dirty="0"/>
          </a:p>
        </p:txBody>
      </p:sp>
    </p:spTree>
    <p:extLst>
      <p:ext uri="{BB962C8B-B14F-4D97-AF65-F5344CB8AC3E}">
        <p14:creationId xmlns:p14="http://schemas.microsoft.com/office/powerpoint/2010/main" val="2442476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9A0EA-5AA4-103D-8B1A-415DBCEE4DA9}"/>
              </a:ext>
            </a:extLst>
          </p:cNvPr>
          <p:cNvSpPr>
            <a:spLocks noGrp="1"/>
          </p:cNvSpPr>
          <p:nvPr>
            <p:ph type="title"/>
          </p:nvPr>
        </p:nvSpPr>
        <p:spPr/>
        <p:txBody>
          <a:bodyPr/>
          <a:lstStyle/>
          <a:p>
            <a:r>
              <a:rPr lang="en-IN" dirty="0"/>
              <a:t>Data Source &amp; Database Connection</a:t>
            </a:r>
          </a:p>
        </p:txBody>
      </p:sp>
      <p:sp>
        <p:nvSpPr>
          <p:cNvPr id="3" name="Content Placeholder 2">
            <a:extLst>
              <a:ext uri="{FF2B5EF4-FFF2-40B4-BE49-F238E27FC236}">
                <a16:creationId xmlns:a16="http://schemas.microsoft.com/office/drawing/2014/main" id="{D1E39D2A-D42A-D395-1E9B-8A1707A6105C}"/>
              </a:ext>
            </a:extLst>
          </p:cNvPr>
          <p:cNvSpPr>
            <a:spLocks noGrp="1"/>
          </p:cNvSpPr>
          <p:nvPr>
            <p:ph idx="1"/>
          </p:nvPr>
        </p:nvSpPr>
        <p:spPr/>
        <p:txBody>
          <a:bodyPr/>
          <a:lstStyle/>
          <a:p>
            <a:r>
              <a:rPr lang="en-IN" dirty="0"/>
              <a:t>The dataset was sourced from a MySQL database hosted on a remote server.</a:t>
            </a:r>
          </a:p>
          <a:p>
            <a:r>
              <a:rPr lang="en-IN" dirty="0"/>
              <a:t>Database connected using </a:t>
            </a:r>
            <a:r>
              <a:rPr lang="en-IN" dirty="0" err="1"/>
              <a:t>mysql.connector</a:t>
            </a:r>
            <a:r>
              <a:rPr lang="en-IN" dirty="0"/>
              <a:t> </a:t>
            </a:r>
          </a:p>
          <a:p>
            <a:r>
              <a:rPr lang="en-IN" dirty="0" err="1"/>
              <a:t>SQLAlchemy</a:t>
            </a:r>
            <a:r>
              <a:rPr lang="en-IN" dirty="0"/>
              <a:t> used for efficient data handling </a:t>
            </a:r>
          </a:p>
          <a:p>
            <a:r>
              <a:rPr lang="en-IN" dirty="0"/>
              <a:t>Ensures real-world, structured data access </a:t>
            </a:r>
          </a:p>
          <a:p>
            <a:r>
              <a:rPr lang="en-IN" dirty="0"/>
              <a:t>This approach demonstrates integration between databases and analytics tools.</a:t>
            </a:r>
          </a:p>
          <a:p>
            <a:endParaRPr lang="en-IN" dirty="0"/>
          </a:p>
        </p:txBody>
      </p:sp>
    </p:spTree>
    <p:extLst>
      <p:ext uri="{BB962C8B-B14F-4D97-AF65-F5344CB8AC3E}">
        <p14:creationId xmlns:p14="http://schemas.microsoft.com/office/powerpoint/2010/main" val="1811926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B8CC7-5C54-2B2D-AA3B-6C01430CC5B2}"/>
              </a:ext>
            </a:extLst>
          </p:cNvPr>
          <p:cNvSpPr>
            <a:spLocks noGrp="1"/>
          </p:cNvSpPr>
          <p:nvPr>
            <p:ph type="title"/>
          </p:nvPr>
        </p:nvSpPr>
        <p:spPr/>
        <p:txBody>
          <a:bodyPr/>
          <a:lstStyle/>
          <a:p>
            <a:r>
              <a:rPr lang="en-IN" dirty="0"/>
              <a:t>Data Extraction Process</a:t>
            </a:r>
          </a:p>
        </p:txBody>
      </p:sp>
      <p:sp>
        <p:nvSpPr>
          <p:cNvPr id="3" name="Content Placeholder 2">
            <a:extLst>
              <a:ext uri="{FF2B5EF4-FFF2-40B4-BE49-F238E27FC236}">
                <a16:creationId xmlns:a16="http://schemas.microsoft.com/office/drawing/2014/main" id="{BC1AF296-BB45-A2F5-25B5-642F6F2ABFE9}"/>
              </a:ext>
            </a:extLst>
          </p:cNvPr>
          <p:cNvSpPr>
            <a:spLocks noGrp="1"/>
          </p:cNvSpPr>
          <p:nvPr>
            <p:ph idx="1"/>
          </p:nvPr>
        </p:nvSpPr>
        <p:spPr/>
        <p:txBody>
          <a:bodyPr/>
          <a:lstStyle/>
          <a:p>
            <a:r>
              <a:rPr lang="en-US" dirty="0"/>
              <a:t>Data was extracted using SQL queries:</a:t>
            </a:r>
          </a:p>
          <a:p>
            <a:r>
              <a:rPr lang="en-US" dirty="0"/>
              <a:t>Query used: SELECT * FROM Market </a:t>
            </a:r>
          </a:p>
          <a:p>
            <a:r>
              <a:rPr lang="en-US" dirty="0"/>
              <a:t>Loaded into Pandas </a:t>
            </a:r>
            <a:r>
              <a:rPr lang="en-US" dirty="0" err="1"/>
              <a:t>DataFrame</a:t>
            </a:r>
            <a:r>
              <a:rPr lang="en-US" dirty="0"/>
              <a:t> for processing </a:t>
            </a:r>
          </a:p>
          <a:p>
            <a:r>
              <a:rPr lang="en-US" dirty="0"/>
              <a:t>Initial dataset explored for structure and quality </a:t>
            </a:r>
          </a:p>
          <a:p>
            <a:r>
              <a:rPr lang="en-US" dirty="0"/>
              <a:t>This step ensured that raw data was properly imported for further cleaning and analysis.</a:t>
            </a:r>
          </a:p>
          <a:p>
            <a:endParaRPr lang="en-IN" dirty="0"/>
          </a:p>
        </p:txBody>
      </p:sp>
    </p:spTree>
    <p:extLst>
      <p:ext uri="{BB962C8B-B14F-4D97-AF65-F5344CB8AC3E}">
        <p14:creationId xmlns:p14="http://schemas.microsoft.com/office/powerpoint/2010/main" val="1431374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F118A-77F2-EAFA-CEDE-A39904B016D6}"/>
              </a:ext>
            </a:extLst>
          </p:cNvPr>
          <p:cNvSpPr>
            <a:spLocks noGrp="1"/>
          </p:cNvSpPr>
          <p:nvPr>
            <p:ph type="title"/>
          </p:nvPr>
        </p:nvSpPr>
        <p:spPr/>
        <p:txBody>
          <a:bodyPr/>
          <a:lstStyle/>
          <a:p>
            <a:r>
              <a:rPr lang="en-IN" dirty="0"/>
              <a:t>Data Cleaning &amp; Preprocessing</a:t>
            </a:r>
          </a:p>
        </p:txBody>
      </p:sp>
      <p:sp>
        <p:nvSpPr>
          <p:cNvPr id="3" name="Content Placeholder 2">
            <a:extLst>
              <a:ext uri="{FF2B5EF4-FFF2-40B4-BE49-F238E27FC236}">
                <a16:creationId xmlns:a16="http://schemas.microsoft.com/office/drawing/2014/main" id="{71851C62-9D73-16DA-D70F-EB51C863E573}"/>
              </a:ext>
            </a:extLst>
          </p:cNvPr>
          <p:cNvSpPr>
            <a:spLocks noGrp="1"/>
          </p:cNvSpPr>
          <p:nvPr>
            <p:ph idx="1"/>
          </p:nvPr>
        </p:nvSpPr>
        <p:spPr/>
        <p:txBody>
          <a:bodyPr/>
          <a:lstStyle/>
          <a:p>
            <a:r>
              <a:rPr lang="en-US" dirty="0"/>
              <a:t>Data cleaning was a critical step to ensure accuracy and reliability:</a:t>
            </a:r>
          </a:p>
          <a:p>
            <a:r>
              <a:rPr lang="en-US" dirty="0"/>
              <a:t>Removed irrelevant column FIELD4 </a:t>
            </a:r>
          </a:p>
          <a:p>
            <a:r>
              <a:rPr lang="en-US" dirty="0"/>
              <a:t>Replaced invalid values (-1, '-1') with NULL </a:t>
            </a:r>
          </a:p>
          <a:p>
            <a:r>
              <a:rPr lang="en-US" dirty="0"/>
              <a:t>Handled missing values: </a:t>
            </a:r>
          </a:p>
          <a:p>
            <a:pPr lvl="1"/>
            <a:r>
              <a:rPr lang="en-US" dirty="0"/>
              <a:t>Numerical → Median imputation </a:t>
            </a:r>
          </a:p>
          <a:p>
            <a:pPr lvl="1"/>
            <a:r>
              <a:rPr lang="en-US" dirty="0"/>
              <a:t>Categorical → "Unknown" </a:t>
            </a:r>
          </a:p>
          <a:p>
            <a:r>
              <a:rPr lang="en-US" dirty="0"/>
              <a:t>Standardized column names for consistency </a:t>
            </a:r>
          </a:p>
          <a:p>
            <a:r>
              <a:rPr lang="en-US" dirty="0"/>
              <a:t>Cleaned company names and text fields </a:t>
            </a:r>
          </a:p>
          <a:p>
            <a:r>
              <a:rPr lang="en-US" dirty="0"/>
              <a:t>These steps improved data quality and usability.</a:t>
            </a:r>
          </a:p>
          <a:p>
            <a:endParaRPr lang="en-IN" dirty="0"/>
          </a:p>
        </p:txBody>
      </p:sp>
    </p:spTree>
    <p:extLst>
      <p:ext uri="{BB962C8B-B14F-4D97-AF65-F5344CB8AC3E}">
        <p14:creationId xmlns:p14="http://schemas.microsoft.com/office/powerpoint/2010/main" val="298396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D0FA9-C308-D504-D82B-B872B7F49F36}"/>
              </a:ext>
            </a:extLst>
          </p:cNvPr>
          <p:cNvSpPr>
            <a:spLocks noGrp="1"/>
          </p:cNvSpPr>
          <p:nvPr>
            <p:ph type="title"/>
          </p:nvPr>
        </p:nvSpPr>
        <p:spPr/>
        <p:txBody>
          <a:bodyPr/>
          <a:lstStyle/>
          <a:p>
            <a:r>
              <a:rPr lang="en-IN" dirty="0"/>
              <a:t>Feature Engineering</a:t>
            </a:r>
          </a:p>
        </p:txBody>
      </p:sp>
      <p:sp>
        <p:nvSpPr>
          <p:cNvPr id="3" name="Content Placeholder 2">
            <a:extLst>
              <a:ext uri="{FF2B5EF4-FFF2-40B4-BE49-F238E27FC236}">
                <a16:creationId xmlns:a16="http://schemas.microsoft.com/office/drawing/2014/main" id="{C28DF797-6386-5A86-1A03-07D9CD8A3DC8}"/>
              </a:ext>
            </a:extLst>
          </p:cNvPr>
          <p:cNvSpPr>
            <a:spLocks noGrp="1"/>
          </p:cNvSpPr>
          <p:nvPr>
            <p:ph idx="1"/>
          </p:nvPr>
        </p:nvSpPr>
        <p:spPr/>
        <p:txBody>
          <a:bodyPr/>
          <a:lstStyle/>
          <a:p>
            <a:r>
              <a:rPr lang="en-US" dirty="0"/>
              <a:t>New features were created to enhance analysis:</a:t>
            </a:r>
          </a:p>
          <a:p>
            <a:r>
              <a:rPr lang="en-US" dirty="0"/>
              <a:t>Salary converted from thousands (K) to actual USD values </a:t>
            </a:r>
          </a:p>
          <a:p>
            <a:r>
              <a:rPr lang="en-US" dirty="0"/>
              <a:t>Created: </a:t>
            </a:r>
          </a:p>
          <a:p>
            <a:pPr lvl="1"/>
            <a:r>
              <a:rPr lang="en-US" dirty="0" err="1"/>
              <a:t>lower_salary</a:t>
            </a:r>
            <a:r>
              <a:rPr lang="en-US" dirty="0"/>
              <a:t> </a:t>
            </a:r>
          </a:p>
          <a:p>
            <a:pPr lvl="1"/>
            <a:r>
              <a:rPr lang="en-US" dirty="0" err="1"/>
              <a:t>upper_salary</a:t>
            </a:r>
            <a:r>
              <a:rPr lang="en-US" dirty="0"/>
              <a:t> </a:t>
            </a:r>
          </a:p>
          <a:p>
            <a:pPr lvl="1"/>
            <a:r>
              <a:rPr lang="en-US" dirty="0" err="1"/>
              <a:t>avg_salary</a:t>
            </a:r>
            <a:r>
              <a:rPr lang="en-US" dirty="0"/>
              <a:t> </a:t>
            </a:r>
          </a:p>
          <a:p>
            <a:r>
              <a:rPr lang="en-US" dirty="0"/>
              <a:t>Revenue converted into numeric </a:t>
            </a:r>
            <a:r>
              <a:rPr lang="en-US" dirty="0" err="1"/>
              <a:t>estimated_revenue</a:t>
            </a:r>
            <a:r>
              <a:rPr lang="en-US" dirty="0"/>
              <a:t> </a:t>
            </a:r>
          </a:p>
          <a:p>
            <a:r>
              <a:rPr lang="en-US" dirty="0"/>
              <a:t>Location split into City and State </a:t>
            </a:r>
          </a:p>
          <a:p>
            <a:r>
              <a:rPr lang="en-US" dirty="0"/>
              <a:t>These transformations enabled deeper and more meaningful analysis.</a:t>
            </a:r>
          </a:p>
          <a:p>
            <a:endParaRPr lang="en-IN" dirty="0"/>
          </a:p>
        </p:txBody>
      </p:sp>
    </p:spTree>
    <p:extLst>
      <p:ext uri="{BB962C8B-B14F-4D97-AF65-F5344CB8AC3E}">
        <p14:creationId xmlns:p14="http://schemas.microsoft.com/office/powerpoint/2010/main" val="2909658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A58DD-B3DC-CF21-3EE6-5C93AEE0027F}"/>
              </a:ext>
            </a:extLst>
          </p:cNvPr>
          <p:cNvSpPr>
            <a:spLocks noGrp="1"/>
          </p:cNvSpPr>
          <p:nvPr>
            <p:ph type="title"/>
          </p:nvPr>
        </p:nvSpPr>
        <p:spPr/>
        <p:txBody>
          <a:bodyPr/>
          <a:lstStyle/>
          <a:p>
            <a:r>
              <a:rPr lang="en-IN" dirty="0"/>
              <a:t>Tools &amp; Technologies</a:t>
            </a:r>
          </a:p>
        </p:txBody>
      </p:sp>
      <p:sp>
        <p:nvSpPr>
          <p:cNvPr id="3" name="Content Placeholder 2">
            <a:extLst>
              <a:ext uri="{FF2B5EF4-FFF2-40B4-BE49-F238E27FC236}">
                <a16:creationId xmlns:a16="http://schemas.microsoft.com/office/drawing/2014/main" id="{702A79E2-2CD2-6649-E78E-21591D3A3B52}"/>
              </a:ext>
            </a:extLst>
          </p:cNvPr>
          <p:cNvSpPr>
            <a:spLocks noGrp="1"/>
          </p:cNvSpPr>
          <p:nvPr>
            <p:ph idx="1"/>
          </p:nvPr>
        </p:nvSpPr>
        <p:spPr>
          <a:xfrm>
            <a:off x="948268" y="1669522"/>
            <a:ext cx="8596668" cy="3880773"/>
          </a:xfrm>
        </p:spPr>
        <p:txBody>
          <a:bodyPr/>
          <a:lstStyle/>
          <a:p>
            <a:r>
              <a:rPr lang="en-IN" b="1" dirty="0"/>
              <a:t>Python Libraries:</a:t>
            </a:r>
            <a:r>
              <a:rPr lang="en-IN" dirty="0"/>
              <a:t> </a:t>
            </a:r>
          </a:p>
          <a:p>
            <a:pPr lvl="1"/>
            <a:r>
              <a:rPr lang="en-IN" dirty="0"/>
              <a:t>Pandas (data manipulation) </a:t>
            </a:r>
          </a:p>
          <a:p>
            <a:pPr lvl="1"/>
            <a:r>
              <a:rPr lang="en-IN" dirty="0"/>
              <a:t>NumPy (numerical operations) </a:t>
            </a:r>
          </a:p>
          <a:p>
            <a:pPr lvl="1"/>
            <a:r>
              <a:rPr lang="en-IN" dirty="0"/>
              <a:t>Matplotlib &amp; Seaborn (visualization) </a:t>
            </a:r>
          </a:p>
          <a:p>
            <a:r>
              <a:rPr lang="en-IN" b="1" dirty="0"/>
              <a:t>Database:</a:t>
            </a:r>
            <a:r>
              <a:rPr lang="en-IN" dirty="0"/>
              <a:t> MySQL </a:t>
            </a:r>
          </a:p>
          <a:p>
            <a:r>
              <a:rPr lang="en-IN" b="1" dirty="0"/>
              <a:t>Visualization Tool:</a:t>
            </a:r>
            <a:r>
              <a:rPr lang="en-IN" dirty="0"/>
              <a:t> Power BI </a:t>
            </a:r>
          </a:p>
          <a:p>
            <a:r>
              <a:rPr lang="en-IN" dirty="0"/>
              <a:t>These tools were used to perform end-to-end data analysis.</a:t>
            </a:r>
          </a:p>
          <a:p>
            <a:endParaRPr lang="en-IN" dirty="0"/>
          </a:p>
        </p:txBody>
      </p:sp>
    </p:spTree>
    <p:extLst>
      <p:ext uri="{BB962C8B-B14F-4D97-AF65-F5344CB8AC3E}">
        <p14:creationId xmlns:p14="http://schemas.microsoft.com/office/powerpoint/2010/main" val="137601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37788-CFDA-DC81-46D8-B24F1CA5F4C6}"/>
              </a:ext>
            </a:extLst>
          </p:cNvPr>
          <p:cNvSpPr>
            <a:spLocks noGrp="1"/>
          </p:cNvSpPr>
          <p:nvPr>
            <p:ph type="title"/>
          </p:nvPr>
        </p:nvSpPr>
        <p:spPr/>
        <p:txBody>
          <a:bodyPr/>
          <a:lstStyle/>
          <a:p>
            <a:r>
              <a:rPr lang="en-IN" dirty="0"/>
              <a:t>Dashboard Overview (Power BI)</a:t>
            </a:r>
          </a:p>
        </p:txBody>
      </p:sp>
      <p:sp>
        <p:nvSpPr>
          <p:cNvPr id="3" name="Content Placeholder 2">
            <a:extLst>
              <a:ext uri="{FF2B5EF4-FFF2-40B4-BE49-F238E27FC236}">
                <a16:creationId xmlns:a16="http://schemas.microsoft.com/office/drawing/2014/main" id="{B5267C68-265F-91A1-7388-57A44E3003D8}"/>
              </a:ext>
            </a:extLst>
          </p:cNvPr>
          <p:cNvSpPr>
            <a:spLocks noGrp="1"/>
          </p:cNvSpPr>
          <p:nvPr>
            <p:ph idx="1"/>
          </p:nvPr>
        </p:nvSpPr>
        <p:spPr>
          <a:xfrm>
            <a:off x="677334" y="1395277"/>
            <a:ext cx="8596668" cy="2033724"/>
          </a:xfrm>
        </p:spPr>
        <p:txBody>
          <a:bodyPr/>
          <a:lstStyle/>
          <a:p>
            <a:r>
              <a:rPr lang="en-US" dirty="0"/>
              <a:t>The Power BI dashboard provides an interactive view of job market insights:</a:t>
            </a:r>
          </a:p>
          <a:p>
            <a:r>
              <a:rPr lang="en-US" dirty="0"/>
              <a:t>State-wise job distribution </a:t>
            </a:r>
          </a:p>
          <a:p>
            <a:r>
              <a:rPr lang="en-US" dirty="0"/>
              <a:t>Salary trends </a:t>
            </a:r>
          </a:p>
          <a:p>
            <a:r>
              <a:rPr lang="en-US" dirty="0"/>
              <a:t>Industry demand </a:t>
            </a:r>
          </a:p>
          <a:p>
            <a:r>
              <a:rPr lang="en-US" dirty="0"/>
              <a:t>Skill requirements </a:t>
            </a:r>
          </a:p>
          <a:p>
            <a:endParaRPr lang="en-IN" dirty="0"/>
          </a:p>
        </p:txBody>
      </p:sp>
      <p:pic>
        <p:nvPicPr>
          <p:cNvPr id="13" name="Picture 12">
            <a:extLst>
              <a:ext uri="{FF2B5EF4-FFF2-40B4-BE49-F238E27FC236}">
                <a16:creationId xmlns:a16="http://schemas.microsoft.com/office/drawing/2014/main" id="{448BFB80-38C1-C2C9-F964-43FB446165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7334" y="3552483"/>
            <a:ext cx="4867988" cy="2987883"/>
          </a:xfrm>
          <a:prstGeom prst="rect">
            <a:avLst/>
          </a:prstGeom>
        </p:spPr>
      </p:pic>
      <p:pic>
        <p:nvPicPr>
          <p:cNvPr id="15" name="Picture 14">
            <a:extLst>
              <a:ext uri="{FF2B5EF4-FFF2-40B4-BE49-F238E27FC236}">
                <a16:creationId xmlns:a16="http://schemas.microsoft.com/office/drawing/2014/main" id="{A916E106-E8DF-5076-CB2B-6CD1F4F480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00089" y="3565929"/>
            <a:ext cx="3039650" cy="2974437"/>
          </a:xfrm>
          <a:prstGeom prst="rect">
            <a:avLst/>
          </a:prstGeom>
        </p:spPr>
      </p:pic>
    </p:spTree>
    <p:extLst>
      <p:ext uri="{BB962C8B-B14F-4D97-AF65-F5344CB8AC3E}">
        <p14:creationId xmlns:p14="http://schemas.microsoft.com/office/powerpoint/2010/main" val="2805019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52B24-D124-2DDA-329B-89E4F3F98006}"/>
              </a:ext>
            </a:extLst>
          </p:cNvPr>
          <p:cNvSpPr>
            <a:spLocks noGrp="1"/>
          </p:cNvSpPr>
          <p:nvPr>
            <p:ph type="title"/>
          </p:nvPr>
        </p:nvSpPr>
        <p:spPr/>
        <p:txBody>
          <a:bodyPr/>
          <a:lstStyle/>
          <a:p>
            <a:r>
              <a:rPr lang="en-IN" dirty="0"/>
              <a:t>State-wise Job Distribution</a:t>
            </a:r>
          </a:p>
        </p:txBody>
      </p:sp>
      <p:sp>
        <p:nvSpPr>
          <p:cNvPr id="3" name="Content Placeholder 2">
            <a:extLst>
              <a:ext uri="{FF2B5EF4-FFF2-40B4-BE49-F238E27FC236}">
                <a16:creationId xmlns:a16="http://schemas.microsoft.com/office/drawing/2014/main" id="{87913567-3AC7-A6B5-35B6-C3619B97C9E2}"/>
              </a:ext>
            </a:extLst>
          </p:cNvPr>
          <p:cNvSpPr>
            <a:spLocks noGrp="1"/>
          </p:cNvSpPr>
          <p:nvPr>
            <p:ph idx="1"/>
          </p:nvPr>
        </p:nvSpPr>
        <p:spPr>
          <a:xfrm>
            <a:off x="769285" y="1270001"/>
            <a:ext cx="9871953" cy="2158999"/>
          </a:xfrm>
        </p:spPr>
        <p:txBody>
          <a:bodyPr>
            <a:normAutofit/>
          </a:bodyPr>
          <a:lstStyle/>
          <a:p>
            <a:r>
              <a:rPr lang="en-US" dirty="0"/>
              <a:t>The analysis of job postings across states reveals that job opportunities are not evenly distributed. Certain states have significantly higher job postings due to strong industrial presence and economic development. This insight highlights the importance of location in determining job availability.</a:t>
            </a:r>
          </a:p>
          <a:p>
            <a:r>
              <a:rPr lang="en-US" b="1" dirty="0"/>
              <a:t>Key Points:</a:t>
            </a:r>
            <a:endParaRPr lang="en-US" dirty="0"/>
          </a:p>
          <a:p>
            <a:r>
              <a:rPr lang="en-US" dirty="0"/>
              <a:t>High concentration of jobs in specific states</a:t>
            </a:r>
          </a:p>
          <a:p>
            <a:r>
              <a:rPr lang="en-US" dirty="0"/>
              <a:t>Indicates regional economic strength</a:t>
            </a:r>
          </a:p>
        </p:txBody>
      </p:sp>
      <p:pic>
        <p:nvPicPr>
          <p:cNvPr id="9" name="Picture 8">
            <a:extLst>
              <a:ext uri="{FF2B5EF4-FFF2-40B4-BE49-F238E27FC236}">
                <a16:creationId xmlns:a16="http://schemas.microsoft.com/office/drawing/2014/main" id="{1FC25904-77CD-D2E9-A63C-4D436823A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8371" y="3429001"/>
            <a:ext cx="5245961" cy="3318308"/>
          </a:xfrm>
          <a:prstGeom prst="rect">
            <a:avLst/>
          </a:prstGeom>
        </p:spPr>
      </p:pic>
    </p:spTree>
    <p:extLst>
      <p:ext uri="{BB962C8B-B14F-4D97-AF65-F5344CB8AC3E}">
        <p14:creationId xmlns:p14="http://schemas.microsoft.com/office/powerpoint/2010/main" val="67139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7DDA0-F008-A597-06EE-2A57D4730560}"/>
              </a:ext>
            </a:extLst>
          </p:cNvPr>
          <p:cNvSpPr>
            <a:spLocks noGrp="1"/>
          </p:cNvSpPr>
          <p:nvPr>
            <p:ph type="title"/>
          </p:nvPr>
        </p:nvSpPr>
        <p:spPr/>
        <p:txBody>
          <a:bodyPr/>
          <a:lstStyle/>
          <a:p>
            <a:r>
              <a:rPr lang="en-IN" dirty="0"/>
              <a:t>Salary Trends Across States</a:t>
            </a:r>
          </a:p>
        </p:txBody>
      </p:sp>
      <p:sp>
        <p:nvSpPr>
          <p:cNvPr id="3" name="Content Placeholder 2">
            <a:extLst>
              <a:ext uri="{FF2B5EF4-FFF2-40B4-BE49-F238E27FC236}">
                <a16:creationId xmlns:a16="http://schemas.microsoft.com/office/drawing/2014/main" id="{3271D305-034A-4CC2-5D49-412157500153}"/>
              </a:ext>
            </a:extLst>
          </p:cNvPr>
          <p:cNvSpPr>
            <a:spLocks noGrp="1"/>
          </p:cNvSpPr>
          <p:nvPr>
            <p:ph idx="1"/>
          </p:nvPr>
        </p:nvSpPr>
        <p:spPr>
          <a:xfrm>
            <a:off x="677334" y="1320801"/>
            <a:ext cx="9823828" cy="2721810"/>
          </a:xfrm>
        </p:spPr>
        <p:txBody>
          <a:bodyPr>
            <a:normAutofit/>
          </a:bodyPr>
          <a:lstStyle/>
          <a:p>
            <a:r>
              <a:rPr lang="en-US" dirty="0"/>
              <a:t>The salary analysis shows considerable variation across different states. States with advanced industries and higher demand for skilled professionals tend to offer better compensation. This trend reflects the influence of economic factors and industry presence on salary levels.</a:t>
            </a:r>
          </a:p>
          <a:p>
            <a:r>
              <a:rPr lang="en-US" b="1" dirty="0"/>
              <a:t>Key Points:</a:t>
            </a:r>
            <a:endParaRPr lang="en-US" dirty="0"/>
          </a:p>
          <a:p>
            <a:r>
              <a:rPr lang="en-US" dirty="0"/>
              <a:t>Significant salary variation across states</a:t>
            </a:r>
          </a:p>
          <a:p>
            <a:r>
              <a:rPr lang="en-US" dirty="0"/>
              <a:t>Higher salaries in developed regions</a:t>
            </a:r>
          </a:p>
          <a:p>
            <a:r>
              <a:rPr lang="en-US" dirty="0"/>
              <a:t>Reflects demand for skilled professionals</a:t>
            </a:r>
          </a:p>
        </p:txBody>
      </p:sp>
      <p:pic>
        <p:nvPicPr>
          <p:cNvPr id="5" name="Picture 4">
            <a:extLst>
              <a:ext uri="{FF2B5EF4-FFF2-40B4-BE49-F238E27FC236}">
                <a16:creationId xmlns:a16="http://schemas.microsoft.com/office/drawing/2014/main" id="{DB7DD925-2840-4D5F-BB8B-9FA5EE4D16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3918075"/>
            <a:ext cx="9573828" cy="2920615"/>
          </a:xfrm>
          <a:prstGeom prst="rect">
            <a:avLst/>
          </a:prstGeom>
        </p:spPr>
      </p:pic>
    </p:spTree>
    <p:extLst>
      <p:ext uri="{BB962C8B-B14F-4D97-AF65-F5344CB8AC3E}">
        <p14:creationId xmlns:p14="http://schemas.microsoft.com/office/powerpoint/2010/main" val="800829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46E21-5591-4EDA-4F24-ADAC46EA078B}"/>
              </a:ext>
            </a:extLst>
          </p:cNvPr>
          <p:cNvSpPr>
            <a:spLocks noGrp="1"/>
          </p:cNvSpPr>
          <p:nvPr>
            <p:ph type="title"/>
          </p:nvPr>
        </p:nvSpPr>
        <p:spPr/>
        <p:txBody>
          <a:bodyPr/>
          <a:lstStyle/>
          <a:p>
            <a:r>
              <a:rPr lang="en-US" dirty="0"/>
              <a:t>Average Salary by State</a:t>
            </a:r>
            <a:endParaRPr lang="en-IN" dirty="0"/>
          </a:p>
        </p:txBody>
      </p:sp>
      <p:sp>
        <p:nvSpPr>
          <p:cNvPr id="3" name="Content Placeholder 2">
            <a:extLst>
              <a:ext uri="{FF2B5EF4-FFF2-40B4-BE49-F238E27FC236}">
                <a16:creationId xmlns:a16="http://schemas.microsoft.com/office/drawing/2014/main" id="{09E4FE20-5337-476F-2F94-3114D74E6BCB}"/>
              </a:ext>
            </a:extLst>
          </p:cNvPr>
          <p:cNvSpPr>
            <a:spLocks noGrp="1"/>
          </p:cNvSpPr>
          <p:nvPr>
            <p:ph idx="1"/>
          </p:nvPr>
        </p:nvSpPr>
        <p:spPr>
          <a:xfrm>
            <a:off x="677334" y="1270000"/>
            <a:ext cx="8596668" cy="2830975"/>
          </a:xfrm>
        </p:spPr>
        <p:txBody>
          <a:bodyPr>
            <a:normAutofit lnSpcReduction="10000"/>
          </a:bodyPr>
          <a:lstStyle/>
          <a:p>
            <a:r>
              <a:rPr lang="en-US" dirty="0"/>
              <a:t>The average salary varies across states, showing clear regional differences in pay. Some states offer higher salaries due to stronger industry presence and demand for skilled professionals. This highlights the importance of location in determining compensation.</a:t>
            </a:r>
          </a:p>
          <a:p>
            <a:r>
              <a:rPr lang="en-US" b="1" dirty="0"/>
              <a:t>Key Points:</a:t>
            </a:r>
            <a:endParaRPr lang="en-US" dirty="0"/>
          </a:p>
          <a:p>
            <a:r>
              <a:rPr lang="en-US" dirty="0"/>
              <a:t>Salaries differ across states </a:t>
            </a:r>
          </a:p>
          <a:p>
            <a:r>
              <a:rPr lang="en-US" dirty="0"/>
              <a:t>Higher pay in developed regions </a:t>
            </a:r>
          </a:p>
          <a:p>
            <a:r>
              <a:rPr lang="en-US" dirty="0"/>
              <a:t>Industry demand affects salary </a:t>
            </a:r>
          </a:p>
          <a:p>
            <a:r>
              <a:rPr lang="en-US" dirty="0"/>
              <a:t>Location impacts earnings</a:t>
            </a:r>
          </a:p>
          <a:p>
            <a:endParaRPr lang="en-IN" dirty="0"/>
          </a:p>
        </p:txBody>
      </p:sp>
      <p:pic>
        <p:nvPicPr>
          <p:cNvPr id="5" name="Picture 4">
            <a:extLst>
              <a:ext uri="{FF2B5EF4-FFF2-40B4-BE49-F238E27FC236}">
                <a16:creationId xmlns:a16="http://schemas.microsoft.com/office/drawing/2014/main" id="{CB0CFCA7-F292-14BC-93A8-190B3A89A999}"/>
              </a:ext>
            </a:extLst>
          </p:cNvPr>
          <p:cNvPicPr>
            <a:picLocks noChangeAspect="1"/>
          </p:cNvPicPr>
          <p:nvPr/>
        </p:nvPicPr>
        <p:blipFill>
          <a:blip r:embed="rId2"/>
          <a:stretch>
            <a:fillRect/>
          </a:stretch>
        </p:blipFill>
        <p:spPr>
          <a:xfrm>
            <a:off x="3554279" y="3561959"/>
            <a:ext cx="4448175" cy="3095625"/>
          </a:xfrm>
          <a:prstGeom prst="rect">
            <a:avLst/>
          </a:prstGeom>
        </p:spPr>
      </p:pic>
    </p:spTree>
    <p:extLst>
      <p:ext uri="{BB962C8B-B14F-4D97-AF65-F5344CB8AC3E}">
        <p14:creationId xmlns:p14="http://schemas.microsoft.com/office/powerpoint/2010/main" val="204887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365EF-C70C-5B88-6695-80938BF5A742}"/>
              </a:ext>
            </a:extLst>
          </p:cNvPr>
          <p:cNvSpPr>
            <a:spLocks noGrp="1"/>
          </p:cNvSpPr>
          <p:nvPr>
            <p:ph type="title"/>
          </p:nvPr>
        </p:nvSpPr>
        <p:spPr>
          <a:xfrm>
            <a:off x="677333" y="491066"/>
            <a:ext cx="10405533" cy="545705"/>
          </a:xfrm>
        </p:spPr>
        <p:txBody>
          <a:bodyPr>
            <a:noAutofit/>
          </a:bodyPr>
          <a:lstStyle/>
          <a:p>
            <a:r>
              <a:rPr lang="en-US" sz="3200" dirty="0"/>
              <a:t>Top Industries 5 Industries for Data Science Roles</a:t>
            </a:r>
            <a:br>
              <a:rPr lang="en-US" sz="3200" dirty="0"/>
            </a:br>
            <a:endParaRPr lang="en-IN" sz="3200" dirty="0"/>
          </a:p>
        </p:txBody>
      </p:sp>
      <p:sp>
        <p:nvSpPr>
          <p:cNvPr id="3" name="Content Placeholder 2">
            <a:extLst>
              <a:ext uri="{FF2B5EF4-FFF2-40B4-BE49-F238E27FC236}">
                <a16:creationId xmlns:a16="http://schemas.microsoft.com/office/drawing/2014/main" id="{7F9CDF55-FCB1-E93E-DC32-F6468C50B6A9}"/>
              </a:ext>
            </a:extLst>
          </p:cNvPr>
          <p:cNvSpPr>
            <a:spLocks noGrp="1"/>
          </p:cNvSpPr>
          <p:nvPr>
            <p:ph idx="1"/>
          </p:nvPr>
        </p:nvSpPr>
        <p:spPr>
          <a:xfrm>
            <a:off x="753533" y="1271590"/>
            <a:ext cx="8596668" cy="2885544"/>
          </a:xfrm>
        </p:spPr>
        <p:txBody>
          <a:bodyPr>
            <a:normAutofit fontScale="92500" lnSpcReduction="10000"/>
          </a:bodyPr>
          <a:lstStyle/>
          <a:p>
            <a:r>
              <a:rPr lang="en-US" dirty="0"/>
              <a:t>The analysis of industries with the highest number of data science job postings highlights where demand for data professionals is most concentrated. A few industries dominate hiring, particularly those driven by technology, data, and digital transformation. This reflects the growing importance of data analytics across multiple sectors.</a:t>
            </a:r>
          </a:p>
          <a:p>
            <a:r>
              <a:rPr lang="en-US" b="1" dirty="0"/>
              <a:t>Key Points:</a:t>
            </a:r>
            <a:endParaRPr lang="en-US" dirty="0"/>
          </a:p>
          <a:p>
            <a:r>
              <a:rPr lang="en-US" dirty="0"/>
              <a:t>A few industries account for most job postings </a:t>
            </a:r>
          </a:p>
          <a:p>
            <a:r>
              <a:rPr lang="en-US" dirty="0"/>
              <a:t>Technology and data-driven sectors lead hiring </a:t>
            </a:r>
          </a:p>
          <a:p>
            <a:r>
              <a:rPr lang="en-US" dirty="0"/>
              <a:t>Indicates strong demand for data science roles </a:t>
            </a:r>
          </a:p>
          <a:p>
            <a:r>
              <a:rPr lang="en-US" dirty="0"/>
              <a:t>Helps identify high-opportunity industries</a:t>
            </a:r>
          </a:p>
          <a:p>
            <a:endParaRPr lang="en-IN" dirty="0"/>
          </a:p>
        </p:txBody>
      </p:sp>
      <p:pic>
        <p:nvPicPr>
          <p:cNvPr id="5" name="Picture 4">
            <a:extLst>
              <a:ext uri="{FF2B5EF4-FFF2-40B4-BE49-F238E27FC236}">
                <a16:creationId xmlns:a16="http://schemas.microsoft.com/office/drawing/2014/main" id="{BA8368E2-5BFE-8770-BF80-B20755813E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2055" y="4157134"/>
            <a:ext cx="7042545" cy="2568979"/>
          </a:xfrm>
          <a:prstGeom prst="rect">
            <a:avLst/>
          </a:prstGeom>
        </p:spPr>
      </p:pic>
    </p:spTree>
    <p:extLst>
      <p:ext uri="{BB962C8B-B14F-4D97-AF65-F5344CB8AC3E}">
        <p14:creationId xmlns:p14="http://schemas.microsoft.com/office/powerpoint/2010/main" val="3112109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F39DF-0A96-444A-1F07-2964AA83F272}"/>
              </a:ext>
            </a:extLst>
          </p:cNvPr>
          <p:cNvSpPr>
            <a:spLocks noGrp="1"/>
          </p:cNvSpPr>
          <p:nvPr>
            <p:ph type="title"/>
          </p:nvPr>
        </p:nvSpPr>
        <p:spPr/>
        <p:txBody>
          <a:bodyPr/>
          <a:lstStyle/>
          <a:p>
            <a:r>
              <a:rPr lang="en-IN" dirty="0"/>
              <a:t>Industry Demand</a:t>
            </a:r>
          </a:p>
        </p:txBody>
      </p:sp>
      <p:sp>
        <p:nvSpPr>
          <p:cNvPr id="3" name="Content Placeholder 2">
            <a:extLst>
              <a:ext uri="{FF2B5EF4-FFF2-40B4-BE49-F238E27FC236}">
                <a16:creationId xmlns:a16="http://schemas.microsoft.com/office/drawing/2014/main" id="{C5F31B26-31F8-529F-64F8-927E5E97B162}"/>
              </a:ext>
            </a:extLst>
          </p:cNvPr>
          <p:cNvSpPr>
            <a:spLocks noGrp="1"/>
          </p:cNvSpPr>
          <p:nvPr>
            <p:ph idx="1"/>
          </p:nvPr>
        </p:nvSpPr>
        <p:spPr>
          <a:xfrm>
            <a:off x="677333" y="1352067"/>
            <a:ext cx="6310608" cy="3075554"/>
          </a:xfrm>
        </p:spPr>
        <p:txBody>
          <a:bodyPr>
            <a:normAutofit/>
          </a:bodyPr>
          <a:lstStyle/>
          <a:p>
            <a:r>
              <a:rPr lang="en-US" dirty="0"/>
              <a:t>The analysis identifies the top industries with the highest number of job postings. Industries such as technology and data-driven sectors dominate the job market, indicating a shift towards digital transformation and data-centric roles.</a:t>
            </a:r>
          </a:p>
          <a:p>
            <a:r>
              <a:rPr lang="en-US" b="1" dirty="0"/>
              <a:t>Key Points:</a:t>
            </a:r>
            <a:endParaRPr lang="en-US" dirty="0"/>
          </a:p>
          <a:p>
            <a:r>
              <a:rPr lang="en-US" dirty="0"/>
              <a:t>Technology sector leads in job postings</a:t>
            </a:r>
          </a:p>
          <a:p>
            <a:r>
              <a:rPr lang="en-US" dirty="0"/>
              <a:t>Growing demand for data-related roles</a:t>
            </a:r>
          </a:p>
          <a:p>
            <a:r>
              <a:rPr lang="en-US" dirty="0"/>
              <a:t>Reflects industry trends and innovation</a:t>
            </a:r>
          </a:p>
          <a:p>
            <a:endParaRPr lang="en-IN" dirty="0"/>
          </a:p>
        </p:txBody>
      </p:sp>
      <p:pic>
        <p:nvPicPr>
          <p:cNvPr id="7" name="Picture 6">
            <a:extLst>
              <a:ext uri="{FF2B5EF4-FFF2-40B4-BE49-F238E27FC236}">
                <a16:creationId xmlns:a16="http://schemas.microsoft.com/office/drawing/2014/main" id="{4C61EC49-C455-2B68-6E22-57E8F4B71D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6892" y="2759494"/>
            <a:ext cx="6432176" cy="3575533"/>
          </a:xfrm>
          <a:prstGeom prst="rect">
            <a:avLst/>
          </a:prstGeom>
        </p:spPr>
      </p:pic>
    </p:spTree>
    <p:extLst>
      <p:ext uri="{BB962C8B-B14F-4D97-AF65-F5344CB8AC3E}">
        <p14:creationId xmlns:p14="http://schemas.microsoft.com/office/powerpoint/2010/main" val="2332317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B0579-1775-21BE-5992-623EF85ADF89}"/>
              </a:ext>
            </a:extLst>
          </p:cNvPr>
          <p:cNvSpPr>
            <a:spLocks noGrp="1"/>
          </p:cNvSpPr>
          <p:nvPr>
            <p:ph type="title"/>
          </p:nvPr>
        </p:nvSpPr>
        <p:spPr/>
        <p:txBody>
          <a:bodyPr/>
          <a:lstStyle/>
          <a:p>
            <a:r>
              <a:rPr lang="en-US" dirty="0"/>
              <a:t>Total Jobs by Company Name</a:t>
            </a:r>
            <a:endParaRPr lang="en-IN" dirty="0"/>
          </a:p>
        </p:txBody>
      </p:sp>
      <p:sp>
        <p:nvSpPr>
          <p:cNvPr id="3" name="Content Placeholder 2">
            <a:extLst>
              <a:ext uri="{FF2B5EF4-FFF2-40B4-BE49-F238E27FC236}">
                <a16:creationId xmlns:a16="http://schemas.microsoft.com/office/drawing/2014/main" id="{1DBDE466-32FB-2261-5ED2-8131428CE09E}"/>
              </a:ext>
            </a:extLst>
          </p:cNvPr>
          <p:cNvSpPr>
            <a:spLocks noGrp="1"/>
          </p:cNvSpPr>
          <p:nvPr>
            <p:ph idx="1"/>
          </p:nvPr>
        </p:nvSpPr>
        <p:spPr>
          <a:xfrm>
            <a:off x="773129" y="1488614"/>
            <a:ext cx="8596668" cy="2582872"/>
          </a:xfrm>
        </p:spPr>
        <p:txBody>
          <a:bodyPr>
            <a:normAutofit/>
          </a:bodyPr>
          <a:lstStyle/>
          <a:p>
            <a:r>
              <a:rPr lang="en-US" dirty="0"/>
              <a:t>The analysis of total job postings by company highlights the organizations that are actively hiring in the job market. It reveals that a small group of companies contributes significantly to the total number of job openings. </a:t>
            </a:r>
          </a:p>
          <a:p>
            <a:pPr marL="0" indent="0">
              <a:buNone/>
            </a:pPr>
            <a:r>
              <a:rPr lang="en-US" b="1" dirty="0"/>
              <a:t>Key Points:</a:t>
            </a:r>
            <a:endParaRPr lang="en-US" dirty="0"/>
          </a:p>
          <a:p>
            <a:r>
              <a:rPr lang="en-US" dirty="0"/>
              <a:t>A few companies dominate the majority of job openings </a:t>
            </a:r>
          </a:p>
          <a:p>
            <a:r>
              <a:rPr lang="en-US" dirty="0"/>
              <a:t>Large organizations tend to offer more opportunities </a:t>
            </a:r>
          </a:p>
          <a:p>
            <a:r>
              <a:rPr lang="en-US" dirty="0"/>
              <a:t>Helps job seekers focus on top hiring companies </a:t>
            </a:r>
          </a:p>
        </p:txBody>
      </p:sp>
      <p:pic>
        <p:nvPicPr>
          <p:cNvPr id="7" name="Picture 6">
            <a:extLst>
              <a:ext uri="{FF2B5EF4-FFF2-40B4-BE49-F238E27FC236}">
                <a16:creationId xmlns:a16="http://schemas.microsoft.com/office/drawing/2014/main" id="{088A9F61-9752-2023-9165-C6C1E20DE1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9559" y="4071486"/>
            <a:ext cx="5839640" cy="2512507"/>
          </a:xfrm>
          <a:prstGeom prst="rect">
            <a:avLst/>
          </a:prstGeom>
        </p:spPr>
      </p:pic>
    </p:spTree>
    <p:extLst>
      <p:ext uri="{BB962C8B-B14F-4D97-AF65-F5344CB8AC3E}">
        <p14:creationId xmlns:p14="http://schemas.microsoft.com/office/powerpoint/2010/main" val="2364627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34565-C2BD-9651-B805-551B5FA3A975}"/>
              </a:ext>
            </a:extLst>
          </p:cNvPr>
          <p:cNvSpPr>
            <a:spLocks noGrp="1"/>
          </p:cNvSpPr>
          <p:nvPr>
            <p:ph type="title"/>
          </p:nvPr>
        </p:nvSpPr>
        <p:spPr>
          <a:xfrm>
            <a:off x="677334" y="609600"/>
            <a:ext cx="8596668" cy="668867"/>
          </a:xfrm>
        </p:spPr>
        <p:txBody>
          <a:bodyPr/>
          <a:lstStyle/>
          <a:p>
            <a:r>
              <a:rPr lang="en-US" dirty="0"/>
              <a:t>Job Titles with Most Number of Jobs</a:t>
            </a:r>
            <a:endParaRPr lang="en-IN" dirty="0"/>
          </a:p>
        </p:txBody>
      </p:sp>
      <p:sp>
        <p:nvSpPr>
          <p:cNvPr id="3" name="Content Placeholder 2">
            <a:extLst>
              <a:ext uri="{FF2B5EF4-FFF2-40B4-BE49-F238E27FC236}">
                <a16:creationId xmlns:a16="http://schemas.microsoft.com/office/drawing/2014/main" id="{DD3C9112-8691-39AF-4D57-07827D7B6257}"/>
              </a:ext>
            </a:extLst>
          </p:cNvPr>
          <p:cNvSpPr>
            <a:spLocks noGrp="1"/>
          </p:cNvSpPr>
          <p:nvPr>
            <p:ph idx="1"/>
          </p:nvPr>
        </p:nvSpPr>
        <p:spPr>
          <a:xfrm>
            <a:off x="677334" y="1381656"/>
            <a:ext cx="8596668" cy="2843211"/>
          </a:xfrm>
        </p:spPr>
        <p:txBody>
          <a:bodyPr>
            <a:normAutofit fontScale="92500" lnSpcReduction="10000"/>
          </a:bodyPr>
          <a:lstStyle/>
          <a:p>
            <a:r>
              <a:rPr lang="en-US" dirty="0"/>
              <a:t>The analysis of job titles with the highest number of postings shows which roles are most in demand in the job market. Positions such as Data Scientist, Data Analyst, and Machine Learning Engineer appear most frequently, indicating a strong demand for data-related skills across industries.</a:t>
            </a:r>
          </a:p>
          <a:p>
            <a:r>
              <a:rPr lang="en-US" b="1" dirty="0"/>
              <a:t>Key Points:</a:t>
            </a:r>
            <a:endParaRPr lang="en-US" dirty="0"/>
          </a:p>
          <a:p>
            <a:r>
              <a:rPr lang="en-US" dirty="0"/>
              <a:t>Data-related roles dominate job postings </a:t>
            </a:r>
          </a:p>
          <a:p>
            <a:r>
              <a:rPr lang="en-US" dirty="0"/>
              <a:t>High demand for analytical and technical skills </a:t>
            </a:r>
          </a:p>
          <a:p>
            <a:r>
              <a:rPr lang="en-US" dirty="0"/>
              <a:t>Reflects growing importance of data-driven decisions </a:t>
            </a:r>
          </a:p>
          <a:p>
            <a:r>
              <a:rPr lang="en-US" dirty="0"/>
              <a:t>Helps identify popular career paths</a:t>
            </a:r>
          </a:p>
          <a:p>
            <a:endParaRPr lang="en-IN" dirty="0"/>
          </a:p>
        </p:txBody>
      </p:sp>
      <p:pic>
        <p:nvPicPr>
          <p:cNvPr id="5" name="Picture 4">
            <a:extLst>
              <a:ext uri="{FF2B5EF4-FFF2-40B4-BE49-F238E27FC236}">
                <a16:creationId xmlns:a16="http://schemas.microsoft.com/office/drawing/2014/main" id="{ACEF875D-DFC3-6C29-9141-FE8D4C00C2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1999" y="4224867"/>
            <a:ext cx="4326467" cy="2616201"/>
          </a:xfrm>
          <a:prstGeom prst="rect">
            <a:avLst/>
          </a:prstGeom>
        </p:spPr>
      </p:pic>
    </p:spTree>
    <p:extLst>
      <p:ext uri="{BB962C8B-B14F-4D97-AF65-F5344CB8AC3E}">
        <p14:creationId xmlns:p14="http://schemas.microsoft.com/office/powerpoint/2010/main" val="3969316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B6BCE-9B00-B192-4148-972DDEDDCD3E}"/>
              </a:ext>
            </a:extLst>
          </p:cNvPr>
          <p:cNvSpPr>
            <a:spLocks noGrp="1"/>
          </p:cNvSpPr>
          <p:nvPr>
            <p:ph type="title"/>
          </p:nvPr>
        </p:nvSpPr>
        <p:spPr>
          <a:xfrm>
            <a:off x="677334" y="558801"/>
            <a:ext cx="8596668" cy="609600"/>
          </a:xfrm>
        </p:spPr>
        <p:txBody>
          <a:bodyPr>
            <a:normAutofit fontScale="90000"/>
          </a:bodyPr>
          <a:lstStyle/>
          <a:p>
            <a:r>
              <a:rPr lang="en-US" dirty="0"/>
              <a:t>Salary of Job Titles with Most Number of Jobs</a:t>
            </a:r>
            <a:endParaRPr lang="en-IN" dirty="0"/>
          </a:p>
        </p:txBody>
      </p:sp>
      <p:sp>
        <p:nvSpPr>
          <p:cNvPr id="3" name="Content Placeholder 2">
            <a:extLst>
              <a:ext uri="{FF2B5EF4-FFF2-40B4-BE49-F238E27FC236}">
                <a16:creationId xmlns:a16="http://schemas.microsoft.com/office/drawing/2014/main" id="{AA503F65-89AD-ABBF-AD74-3F487C838970}"/>
              </a:ext>
            </a:extLst>
          </p:cNvPr>
          <p:cNvSpPr>
            <a:spLocks noGrp="1"/>
          </p:cNvSpPr>
          <p:nvPr>
            <p:ph idx="1"/>
          </p:nvPr>
        </p:nvSpPr>
        <p:spPr>
          <a:xfrm>
            <a:off x="677334" y="1339323"/>
            <a:ext cx="8596668" cy="2860144"/>
          </a:xfrm>
        </p:spPr>
        <p:txBody>
          <a:bodyPr>
            <a:normAutofit fontScale="92500" lnSpcReduction="10000"/>
          </a:bodyPr>
          <a:lstStyle/>
          <a:p>
            <a:r>
              <a:rPr lang="en-US" dirty="0"/>
              <a:t>The salary analysis of the most common job titles shows how compensation varies across popular roles. While some roles have a high number of openings, their salaries may differ based on skill requirements and job complexity. Roles requiring advanced technical expertise tend to offer higher salaries.</a:t>
            </a:r>
          </a:p>
          <a:p>
            <a:r>
              <a:rPr lang="en-US" b="1" dirty="0"/>
              <a:t>Key Points:</a:t>
            </a:r>
            <a:endParaRPr lang="en-US" dirty="0"/>
          </a:p>
          <a:p>
            <a:r>
              <a:rPr lang="en-US" dirty="0"/>
              <a:t>Salaries vary across job roles </a:t>
            </a:r>
          </a:p>
          <a:p>
            <a:r>
              <a:rPr lang="en-US" dirty="0"/>
              <a:t>High-demand roles may not always have highest pay </a:t>
            </a:r>
          </a:p>
          <a:p>
            <a:r>
              <a:rPr lang="en-US" dirty="0"/>
              <a:t>Technical roles offer better compensation </a:t>
            </a:r>
          </a:p>
          <a:p>
            <a:r>
              <a:rPr lang="en-US" dirty="0"/>
              <a:t>Skill level influences salary differences</a:t>
            </a:r>
          </a:p>
          <a:p>
            <a:endParaRPr lang="en-IN" dirty="0"/>
          </a:p>
        </p:txBody>
      </p:sp>
      <p:pic>
        <p:nvPicPr>
          <p:cNvPr id="7" name="Picture 6">
            <a:extLst>
              <a:ext uri="{FF2B5EF4-FFF2-40B4-BE49-F238E27FC236}">
                <a16:creationId xmlns:a16="http://schemas.microsoft.com/office/drawing/2014/main" id="{31159FCC-5AB9-59C9-1646-013FCEDEC6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771" y="4288532"/>
            <a:ext cx="8906629" cy="2010667"/>
          </a:xfrm>
          <a:prstGeom prst="rect">
            <a:avLst/>
          </a:prstGeom>
        </p:spPr>
      </p:pic>
    </p:spTree>
    <p:extLst>
      <p:ext uri="{BB962C8B-B14F-4D97-AF65-F5344CB8AC3E}">
        <p14:creationId xmlns:p14="http://schemas.microsoft.com/office/powerpoint/2010/main" val="1848768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F2E33-CC4A-7C1B-6147-B6BCD3CC896E}"/>
              </a:ext>
            </a:extLst>
          </p:cNvPr>
          <p:cNvSpPr>
            <a:spLocks noGrp="1"/>
          </p:cNvSpPr>
          <p:nvPr>
            <p:ph type="title"/>
          </p:nvPr>
        </p:nvSpPr>
        <p:spPr/>
        <p:txBody>
          <a:bodyPr/>
          <a:lstStyle/>
          <a:p>
            <a:r>
              <a:rPr lang="en-US" dirty="0"/>
              <a:t>Skills Required by Companies</a:t>
            </a:r>
            <a:endParaRPr lang="en-IN" dirty="0"/>
          </a:p>
        </p:txBody>
      </p:sp>
      <p:sp>
        <p:nvSpPr>
          <p:cNvPr id="3" name="Content Placeholder 2">
            <a:extLst>
              <a:ext uri="{FF2B5EF4-FFF2-40B4-BE49-F238E27FC236}">
                <a16:creationId xmlns:a16="http://schemas.microsoft.com/office/drawing/2014/main" id="{DF9320A4-21D5-DCFA-42D9-7579BCF318AC}"/>
              </a:ext>
            </a:extLst>
          </p:cNvPr>
          <p:cNvSpPr>
            <a:spLocks noGrp="1"/>
          </p:cNvSpPr>
          <p:nvPr>
            <p:ph idx="1"/>
          </p:nvPr>
        </p:nvSpPr>
        <p:spPr>
          <a:xfrm>
            <a:off x="677334" y="1376817"/>
            <a:ext cx="8596668" cy="2559457"/>
          </a:xfrm>
        </p:spPr>
        <p:txBody>
          <a:bodyPr/>
          <a:lstStyle/>
          <a:p>
            <a:r>
              <a:rPr lang="en-US" dirty="0"/>
              <a:t>The skill analysis reveals that programming and analytical tools are highly valued in the job market. Skills such as Python, SQL, and Excel are fundamental requirements, while advanced tools like AWS and Spark are preferred for specialized roles.</a:t>
            </a:r>
          </a:p>
          <a:p>
            <a:r>
              <a:rPr lang="en-US" b="1" dirty="0"/>
              <a:t>Key Points:</a:t>
            </a:r>
            <a:endParaRPr lang="en-US" dirty="0"/>
          </a:p>
          <a:p>
            <a:r>
              <a:rPr lang="en-US" dirty="0"/>
              <a:t>Python and SQL are most in-demand</a:t>
            </a:r>
          </a:p>
          <a:p>
            <a:r>
              <a:rPr lang="en-US" dirty="0"/>
              <a:t>Cloud and big data tools gaining importance</a:t>
            </a:r>
          </a:p>
          <a:p>
            <a:r>
              <a:rPr lang="en-US" dirty="0"/>
              <a:t>Skills directly impact employability</a:t>
            </a:r>
          </a:p>
        </p:txBody>
      </p:sp>
      <p:pic>
        <p:nvPicPr>
          <p:cNvPr id="7" name="Picture 6">
            <a:extLst>
              <a:ext uri="{FF2B5EF4-FFF2-40B4-BE49-F238E27FC236}">
                <a16:creationId xmlns:a16="http://schemas.microsoft.com/office/drawing/2014/main" id="{42844091-8B63-A26E-A28E-20467655B5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7998" y="3836317"/>
            <a:ext cx="4876523" cy="2974603"/>
          </a:xfrm>
          <a:prstGeom prst="rect">
            <a:avLst/>
          </a:prstGeom>
        </p:spPr>
      </p:pic>
    </p:spTree>
    <p:extLst>
      <p:ext uri="{BB962C8B-B14F-4D97-AF65-F5344CB8AC3E}">
        <p14:creationId xmlns:p14="http://schemas.microsoft.com/office/powerpoint/2010/main" val="732392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7AB14-6D6B-D778-58D7-FBD053196F0D}"/>
              </a:ext>
            </a:extLst>
          </p:cNvPr>
          <p:cNvSpPr>
            <a:spLocks noGrp="1"/>
          </p:cNvSpPr>
          <p:nvPr>
            <p:ph type="title"/>
          </p:nvPr>
        </p:nvSpPr>
        <p:spPr/>
        <p:txBody>
          <a:bodyPr/>
          <a:lstStyle/>
          <a:p>
            <a:r>
              <a:rPr lang="en-IN" dirty="0">
                <a:latin typeface="Segoe UI" panose="020B0502040204020203" pitchFamily="34" charset="0"/>
                <a:cs typeface="Segoe UI" panose="020B0502040204020203" pitchFamily="34" charset="0"/>
              </a:rPr>
              <a:t>Education vs Salary</a:t>
            </a:r>
          </a:p>
        </p:txBody>
      </p:sp>
      <p:sp>
        <p:nvSpPr>
          <p:cNvPr id="3" name="Content Placeholder 2">
            <a:extLst>
              <a:ext uri="{FF2B5EF4-FFF2-40B4-BE49-F238E27FC236}">
                <a16:creationId xmlns:a16="http://schemas.microsoft.com/office/drawing/2014/main" id="{C493A510-965D-F080-51A5-3482166183A3}"/>
              </a:ext>
            </a:extLst>
          </p:cNvPr>
          <p:cNvSpPr>
            <a:spLocks noGrp="1"/>
          </p:cNvSpPr>
          <p:nvPr>
            <p:ph idx="1"/>
          </p:nvPr>
        </p:nvSpPr>
        <p:spPr>
          <a:xfrm>
            <a:off x="677334" y="1270000"/>
            <a:ext cx="8596668" cy="2459549"/>
          </a:xfrm>
        </p:spPr>
        <p:txBody>
          <a:bodyPr>
            <a:normAutofit lnSpcReduction="10000"/>
          </a:bodyPr>
          <a:lstStyle/>
          <a:p>
            <a:r>
              <a:rPr lang="en-US" dirty="0"/>
              <a:t>The relationship between education and salary shows that higher educational qualifications often lead to better compensation. However, practical skills and experience also play a crucial role in determining salary levels.</a:t>
            </a:r>
          </a:p>
          <a:p>
            <a:r>
              <a:rPr lang="en-US" b="1" dirty="0"/>
              <a:t>Key Points:</a:t>
            </a:r>
            <a:endParaRPr lang="en-US" dirty="0"/>
          </a:p>
          <a:p>
            <a:r>
              <a:rPr lang="en-US" dirty="0"/>
              <a:t>Higher education → higher salary</a:t>
            </a:r>
          </a:p>
          <a:p>
            <a:r>
              <a:rPr lang="en-US" dirty="0"/>
              <a:t>Skills and experience also important</a:t>
            </a:r>
          </a:p>
          <a:p>
            <a:r>
              <a:rPr lang="en-US" dirty="0"/>
              <a:t>Education adds value to career growth</a:t>
            </a:r>
          </a:p>
        </p:txBody>
      </p:sp>
      <p:pic>
        <p:nvPicPr>
          <p:cNvPr id="7" name="Picture 6">
            <a:extLst>
              <a:ext uri="{FF2B5EF4-FFF2-40B4-BE49-F238E27FC236}">
                <a16:creationId xmlns:a16="http://schemas.microsoft.com/office/drawing/2014/main" id="{5485E522-AB23-6FC1-33E8-5F09B764A8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9821" y="3633296"/>
            <a:ext cx="5065399" cy="3044957"/>
          </a:xfrm>
          <a:prstGeom prst="rect">
            <a:avLst/>
          </a:prstGeom>
        </p:spPr>
      </p:pic>
    </p:spTree>
    <p:extLst>
      <p:ext uri="{BB962C8B-B14F-4D97-AF65-F5344CB8AC3E}">
        <p14:creationId xmlns:p14="http://schemas.microsoft.com/office/powerpoint/2010/main" val="35691703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F8294-890D-FDA0-A2D1-A0CFBD4B717E}"/>
              </a:ext>
            </a:extLst>
          </p:cNvPr>
          <p:cNvSpPr>
            <a:spLocks noGrp="1"/>
          </p:cNvSpPr>
          <p:nvPr>
            <p:ph type="title"/>
          </p:nvPr>
        </p:nvSpPr>
        <p:spPr>
          <a:xfrm>
            <a:off x="677334" y="609600"/>
            <a:ext cx="8596668" cy="824564"/>
          </a:xfrm>
        </p:spPr>
        <p:txBody>
          <a:bodyPr/>
          <a:lstStyle/>
          <a:p>
            <a:r>
              <a:rPr lang="en-US" dirty="0"/>
              <a:t>Average Salary vs Company Age</a:t>
            </a:r>
            <a:endParaRPr lang="en-IN" dirty="0"/>
          </a:p>
        </p:txBody>
      </p:sp>
      <p:sp>
        <p:nvSpPr>
          <p:cNvPr id="3" name="Content Placeholder 2">
            <a:extLst>
              <a:ext uri="{FF2B5EF4-FFF2-40B4-BE49-F238E27FC236}">
                <a16:creationId xmlns:a16="http://schemas.microsoft.com/office/drawing/2014/main" id="{F909170C-1CC3-DC0C-7594-C69CB44B76DA}"/>
              </a:ext>
            </a:extLst>
          </p:cNvPr>
          <p:cNvSpPr>
            <a:spLocks noGrp="1"/>
          </p:cNvSpPr>
          <p:nvPr>
            <p:ph idx="1"/>
          </p:nvPr>
        </p:nvSpPr>
        <p:spPr>
          <a:xfrm>
            <a:off x="677334" y="1434164"/>
            <a:ext cx="8596668" cy="3234089"/>
          </a:xfrm>
        </p:spPr>
        <p:txBody>
          <a:bodyPr/>
          <a:lstStyle/>
          <a:p>
            <a:r>
              <a:rPr lang="en-US" dirty="0"/>
              <a:t>The relationship between average salary and company age shows how compensation varies with the maturity of organizations. Established companies often offer higher salaries due to financial stability and structured roles, while newer companies may offer competitive or variable pay based on growth potential.</a:t>
            </a:r>
          </a:p>
          <a:p>
            <a:r>
              <a:rPr lang="en-US" b="1" dirty="0"/>
              <a:t>Key Points:</a:t>
            </a:r>
            <a:endParaRPr lang="en-US" dirty="0"/>
          </a:p>
          <a:p>
            <a:r>
              <a:rPr lang="en-US" dirty="0"/>
              <a:t>Older companies tend to offer stable salaries </a:t>
            </a:r>
          </a:p>
          <a:p>
            <a:r>
              <a:rPr lang="en-US" dirty="0"/>
              <a:t>New companies may offer competitive or flexible pay </a:t>
            </a:r>
          </a:p>
          <a:p>
            <a:r>
              <a:rPr lang="en-US" dirty="0"/>
              <a:t>Company maturity influences compensation </a:t>
            </a:r>
          </a:p>
          <a:p>
            <a:r>
              <a:rPr lang="en-US" dirty="0"/>
              <a:t>Salary varies with growth and experience level </a:t>
            </a:r>
          </a:p>
          <a:p>
            <a:endParaRPr lang="en-IN" dirty="0"/>
          </a:p>
        </p:txBody>
      </p:sp>
      <p:pic>
        <p:nvPicPr>
          <p:cNvPr id="5" name="Picture 4">
            <a:extLst>
              <a:ext uri="{FF2B5EF4-FFF2-40B4-BE49-F238E27FC236}">
                <a16:creationId xmlns:a16="http://schemas.microsoft.com/office/drawing/2014/main" id="{6C7ACDFA-A482-29E3-1A7E-E2AD71EA57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7418" y="4668253"/>
            <a:ext cx="7956885" cy="1987760"/>
          </a:xfrm>
          <a:prstGeom prst="rect">
            <a:avLst/>
          </a:prstGeom>
        </p:spPr>
      </p:pic>
    </p:spTree>
    <p:extLst>
      <p:ext uri="{BB962C8B-B14F-4D97-AF65-F5344CB8AC3E}">
        <p14:creationId xmlns:p14="http://schemas.microsoft.com/office/powerpoint/2010/main" val="483964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804BD-07FE-3584-294F-1136D858D2CE}"/>
              </a:ext>
            </a:extLst>
          </p:cNvPr>
          <p:cNvSpPr>
            <a:spLocks noGrp="1"/>
          </p:cNvSpPr>
          <p:nvPr>
            <p:ph type="title"/>
          </p:nvPr>
        </p:nvSpPr>
        <p:spPr>
          <a:xfrm>
            <a:off x="677334" y="609600"/>
            <a:ext cx="8596668" cy="567267"/>
          </a:xfrm>
        </p:spPr>
        <p:txBody>
          <a:bodyPr>
            <a:normAutofit fontScale="90000"/>
          </a:bodyPr>
          <a:lstStyle/>
          <a:p>
            <a:r>
              <a:rPr lang="en-IN" dirty="0"/>
              <a:t>Skills Demand</a:t>
            </a:r>
          </a:p>
        </p:txBody>
      </p:sp>
      <p:sp>
        <p:nvSpPr>
          <p:cNvPr id="3" name="Content Placeholder 2">
            <a:extLst>
              <a:ext uri="{FF2B5EF4-FFF2-40B4-BE49-F238E27FC236}">
                <a16:creationId xmlns:a16="http://schemas.microsoft.com/office/drawing/2014/main" id="{7C522240-27F9-1F83-20EB-1866A0C74506}"/>
              </a:ext>
            </a:extLst>
          </p:cNvPr>
          <p:cNvSpPr>
            <a:spLocks noGrp="1"/>
          </p:cNvSpPr>
          <p:nvPr>
            <p:ph idx="1"/>
          </p:nvPr>
        </p:nvSpPr>
        <p:spPr>
          <a:xfrm>
            <a:off x="677334" y="1302611"/>
            <a:ext cx="8596668" cy="1651015"/>
          </a:xfrm>
        </p:spPr>
        <p:txBody>
          <a:bodyPr/>
          <a:lstStyle/>
          <a:p>
            <a:r>
              <a:rPr lang="en-US" dirty="0"/>
              <a:t>Skill analysis highlights the most in-demand technical skills:</a:t>
            </a:r>
          </a:p>
          <a:p>
            <a:r>
              <a:rPr lang="en-US" dirty="0"/>
              <a:t>Python, SQL, and Excel are the most frequently required </a:t>
            </a:r>
          </a:p>
          <a:p>
            <a:r>
              <a:rPr lang="en-US" dirty="0"/>
              <a:t>Cloud and big data tools (AWS, Spark) are also significant </a:t>
            </a:r>
          </a:p>
          <a:p>
            <a:r>
              <a:rPr lang="en-US" dirty="0"/>
              <a:t>This reflects the industry's shift toward data-driven decision-making.</a:t>
            </a:r>
          </a:p>
          <a:p>
            <a:endParaRPr lang="en-IN" dirty="0"/>
          </a:p>
        </p:txBody>
      </p:sp>
      <p:pic>
        <p:nvPicPr>
          <p:cNvPr id="5" name="Picture 4">
            <a:extLst>
              <a:ext uri="{FF2B5EF4-FFF2-40B4-BE49-F238E27FC236}">
                <a16:creationId xmlns:a16="http://schemas.microsoft.com/office/drawing/2014/main" id="{B2220AE4-7931-CEFE-4768-D1F8E4D910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6923" y="2853266"/>
            <a:ext cx="7298343" cy="3903446"/>
          </a:xfrm>
          <a:prstGeom prst="rect">
            <a:avLst/>
          </a:prstGeom>
        </p:spPr>
      </p:pic>
    </p:spTree>
    <p:extLst>
      <p:ext uri="{BB962C8B-B14F-4D97-AF65-F5344CB8AC3E}">
        <p14:creationId xmlns:p14="http://schemas.microsoft.com/office/powerpoint/2010/main" val="3746131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26B6A-04FA-4C96-F3F0-4E7FE04A2C96}"/>
              </a:ext>
            </a:extLst>
          </p:cNvPr>
          <p:cNvSpPr>
            <a:spLocks noGrp="1"/>
          </p:cNvSpPr>
          <p:nvPr>
            <p:ph type="title"/>
          </p:nvPr>
        </p:nvSpPr>
        <p:spPr/>
        <p:txBody>
          <a:bodyPr/>
          <a:lstStyle/>
          <a:p>
            <a:r>
              <a:rPr lang="en-IN" dirty="0"/>
              <a:t>Correlation Analysis</a:t>
            </a:r>
          </a:p>
        </p:txBody>
      </p:sp>
      <p:sp>
        <p:nvSpPr>
          <p:cNvPr id="3" name="Content Placeholder 2">
            <a:extLst>
              <a:ext uri="{FF2B5EF4-FFF2-40B4-BE49-F238E27FC236}">
                <a16:creationId xmlns:a16="http://schemas.microsoft.com/office/drawing/2014/main" id="{914C9C6B-1195-10E7-6895-230888D95962}"/>
              </a:ext>
            </a:extLst>
          </p:cNvPr>
          <p:cNvSpPr>
            <a:spLocks noGrp="1"/>
          </p:cNvSpPr>
          <p:nvPr>
            <p:ph idx="1"/>
          </p:nvPr>
        </p:nvSpPr>
        <p:spPr>
          <a:xfrm>
            <a:off x="677334" y="1488613"/>
            <a:ext cx="4106422" cy="3438987"/>
          </a:xfrm>
        </p:spPr>
        <p:txBody>
          <a:bodyPr>
            <a:normAutofit/>
          </a:bodyPr>
          <a:lstStyle/>
          <a:p>
            <a:r>
              <a:rPr lang="en-US" b="1" dirty="0"/>
              <a:t>Content:</a:t>
            </a:r>
            <a:br>
              <a:rPr lang="en-US" dirty="0"/>
            </a:br>
            <a:r>
              <a:rPr lang="en-US" dirty="0"/>
              <a:t>The correlation matrix highlights relationships between numerical variables such as salary, rating, and revenue.</a:t>
            </a:r>
          </a:p>
          <a:p>
            <a:r>
              <a:rPr lang="en-US" dirty="0"/>
              <a:t>This helps identify patterns and dependencies in the dataset.</a:t>
            </a:r>
          </a:p>
        </p:txBody>
      </p:sp>
      <p:pic>
        <p:nvPicPr>
          <p:cNvPr id="7" name="Picture 6">
            <a:extLst>
              <a:ext uri="{FF2B5EF4-FFF2-40B4-BE49-F238E27FC236}">
                <a16:creationId xmlns:a16="http://schemas.microsoft.com/office/drawing/2014/main" id="{F76038C5-8135-C519-F5D4-C0E45EB6A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3755" y="1048443"/>
            <a:ext cx="6730911" cy="5496736"/>
          </a:xfrm>
          <a:prstGeom prst="rect">
            <a:avLst/>
          </a:prstGeom>
        </p:spPr>
      </p:pic>
    </p:spTree>
    <p:extLst>
      <p:ext uri="{BB962C8B-B14F-4D97-AF65-F5344CB8AC3E}">
        <p14:creationId xmlns:p14="http://schemas.microsoft.com/office/powerpoint/2010/main" val="3521390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87AF3-9EEC-9FEF-489B-DDCBBA86B812}"/>
              </a:ext>
            </a:extLst>
          </p:cNvPr>
          <p:cNvSpPr>
            <a:spLocks noGrp="1"/>
          </p:cNvSpPr>
          <p:nvPr>
            <p:ph type="title"/>
          </p:nvPr>
        </p:nvSpPr>
        <p:spPr/>
        <p:txBody>
          <a:bodyPr/>
          <a:lstStyle/>
          <a:p>
            <a:r>
              <a:rPr lang="en-IN" dirty="0"/>
              <a:t>Business Insights</a:t>
            </a:r>
          </a:p>
        </p:txBody>
      </p:sp>
      <p:sp>
        <p:nvSpPr>
          <p:cNvPr id="3" name="Content Placeholder 2">
            <a:extLst>
              <a:ext uri="{FF2B5EF4-FFF2-40B4-BE49-F238E27FC236}">
                <a16:creationId xmlns:a16="http://schemas.microsoft.com/office/drawing/2014/main" id="{303AD378-23C2-1433-CB69-7B3C0C754816}"/>
              </a:ext>
            </a:extLst>
          </p:cNvPr>
          <p:cNvSpPr>
            <a:spLocks noGrp="1"/>
          </p:cNvSpPr>
          <p:nvPr>
            <p:ph idx="1"/>
          </p:nvPr>
        </p:nvSpPr>
        <p:spPr/>
        <p:txBody>
          <a:bodyPr/>
          <a:lstStyle/>
          <a:p>
            <a:r>
              <a:rPr lang="en-US" dirty="0"/>
              <a:t>Key takeaways from the analysis:</a:t>
            </a:r>
          </a:p>
          <a:p>
            <a:r>
              <a:rPr lang="en-US" dirty="0"/>
              <a:t>Skill-based hiring is increasing </a:t>
            </a:r>
          </a:p>
          <a:p>
            <a:r>
              <a:rPr lang="en-US" dirty="0"/>
              <a:t>Salaries vary significantly by location and role </a:t>
            </a:r>
          </a:p>
          <a:p>
            <a:r>
              <a:rPr lang="en-US" dirty="0"/>
              <a:t>Data-related roles are in high demand </a:t>
            </a:r>
          </a:p>
          <a:p>
            <a:r>
              <a:rPr lang="en-US" dirty="0"/>
              <a:t>Companies prefer candidates with multiple technical skills </a:t>
            </a:r>
          </a:p>
          <a:p>
            <a:r>
              <a:rPr lang="en-US" dirty="0"/>
              <a:t>These insights can help job seekers and organizations make better decisions.</a:t>
            </a:r>
          </a:p>
          <a:p>
            <a:endParaRPr lang="en-IN" dirty="0"/>
          </a:p>
        </p:txBody>
      </p:sp>
    </p:spTree>
    <p:extLst>
      <p:ext uri="{BB962C8B-B14F-4D97-AF65-F5344CB8AC3E}">
        <p14:creationId xmlns:p14="http://schemas.microsoft.com/office/powerpoint/2010/main" val="1598390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625AC-23F2-6ED7-E984-94FE12FA82FB}"/>
              </a:ext>
            </a:extLst>
          </p:cNvPr>
          <p:cNvSpPr>
            <a:spLocks noGrp="1"/>
          </p:cNvSpPr>
          <p:nvPr>
            <p:ph type="title"/>
          </p:nvPr>
        </p:nvSpPr>
        <p:spPr/>
        <p:txBody>
          <a:bodyPr/>
          <a:lstStyle/>
          <a:p>
            <a:r>
              <a:rPr lang="en-IN" dirty="0"/>
              <a:t>Challenges Faced</a:t>
            </a:r>
          </a:p>
        </p:txBody>
      </p:sp>
      <p:sp>
        <p:nvSpPr>
          <p:cNvPr id="3" name="Content Placeholder 2">
            <a:extLst>
              <a:ext uri="{FF2B5EF4-FFF2-40B4-BE49-F238E27FC236}">
                <a16:creationId xmlns:a16="http://schemas.microsoft.com/office/drawing/2014/main" id="{0CFBC37D-90E7-0204-1F0F-259499E8A2F2}"/>
              </a:ext>
            </a:extLst>
          </p:cNvPr>
          <p:cNvSpPr>
            <a:spLocks noGrp="1"/>
          </p:cNvSpPr>
          <p:nvPr>
            <p:ph idx="1"/>
          </p:nvPr>
        </p:nvSpPr>
        <p:spPr/>
        <p:txBody>
          <a:bodyPr/>
          <a:lstStyle/>
          <a:p>
            <a:r>
              <a:rPr lang="en-US" dirty="0"/>
              <a:t>Handling missing and inconsistent data </a:t>
            </a:r>
          </a:p>
          <a:p>
            <a:r>
              <a:rPr lang="en-US" dirty="0"/>
              <a:t>Cleaning unstructured text fields </a:t>
            </a:r>
          </a:p>
          <a:p>
            <a:r>
              <a:rPr lang="en-US" dirty="0"/>
              <a:t>Converting revenue and salary into usable formats </a:t>
            </a:r>
          </a:p>
          <a:p>
            <a:r>
              <a:rPr lang="en-US" dirty="0"/>
              <a:t>Ensuring accurate data transformation </a:t>
            </a:r>
          </a:p>
          <a:p>
            <a:r>
              <a:rPr lang="en-US" dirty="0"/>
              <a:t>These challenges were addressed through systematic preprocessing.</a:t>
            </a:r>
          </a:p>
          <a:p>
            <a:endParaRPr lang="en-IN" dirty="0"/>
          </a:p>
        </p:txBody>
      </p:sp>
    </p:spTree>
    <p:extLst>
      <p:ext uri="{BB962C8B-B14F-4D97-AF65-F5344CB8AC3E}">
        <p14:creationId xmlns:p14="http://schemas.microsoft.com/office/powerpoint/2010/main" val="2088800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39C70-501B-EF1F-E242-40960241A9C1}"/>
              </a:ext>
            </a:extLst>
          </p:cNvPr>
          <p:cNvSpPr>
            <a:spLocks noGrp="1"/>
          </p:cNvSpPr>
          <p:nvPr>
            <p:ph type="title"/>
          </p:nvPr>
        </p:nvSpPr>
        <p:spPr/>
        <p:txBody>
          <a:bodyPr/>
          <a:lstStyle/>
          <a:p>
            <a:r>
              <a:rPr lang="en-IN" dirty="0"/>
              <a:t>Conclusion &amp; Future Scope</a:t>
            </a:r>
          </a:p>
        </p:txBody>
      </p:sp>
      <p:sp>
        <p:nvSpPr>
          <p:cNvPr id="3" name="Content Placeholder 2">
            <a:extLst>
              <a:ext uri="{FF2B5EF4-FFF2-40B4-BE49-F238E27FC236}">
                <a16:creationId xmlns:a16="http://schemas.microsoft.com/office/drawing/2014/main" id="{4EB10A7D-D218-6A3F-234B-53D576AE6866}"/>
              </a:ext>
            </a:extLst>
          </p:cNvPr>
          <p:cNvSpPr>
            <a:spLocks noGrp="1"/>
          </p:cNvSpPr>
          <p:nvPr>
            <p:ph idx="1"/>
          </p:nvPr>
        </p:nvSpPr>
        <p:spPr/>
        <p:txBody>
          <a:bodyPr/>
          <a:lstStyle/>
          <a:p>
            <a:r>
              <a:rPr lang="en-US" b="1" dirty="0"/>
              <a:t>Conclusion:</a:t>
            </a:r>
            <a:br>
              <a:rPr lang="en-US" dirty="0"/>
            </a:br>
            <a:r>
              <a:rPr lang="en-US" dirty="0"/>
              <a:t>This project successfully transformed raw job data into actionable insights using Python and Power BI.</a:t>
            </a:r>
          </a:p>
          <a:p>
            <a:r>
              <a:rPr lang="en-US" b="1" dirty="0"/>
              <a:t>Future Scope:</a:t>
            </a:r>
            <a:endParaRPr lang="en-US" dirty="0"/>
          </a:p>
          <a:p>
            <a:r>
              <a:rPr lang="en-US" dirty="0"/>
              <a:t>Integration with real-time job data </a:t>
            </a:r>
          </a:p>
          <a:p>
            <a:r>
              <a:rPr lang="en-US" dirty="0"/>
              <a:t>Use of machine learning for prediction </a:t>
            </a:r>
          </a:p>
          <a:p>
            <a:r>
              <a:rPr lang="en-US" dirty="0"/>
              <a:t>Advanced dashboards with forecasting</a:t>
            </a:r>
          </a:p>
          <a:p>
            <a:endParaRPr lang="en-IN" dirty="0"/>
          </a:p>
        </p:txBody>
      </p:sp>
    </p:spTree>
    <p:extLst>
      <p:ext uri="{BB962C8B-B14F-4D97-AF65-F5344CB8AC3E}">
        <p14:creationId xmlns:p14="http://schemas.microsoft.com/office/powerpoint/2010/main" val="387342794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
  <TotalTime>684</TotalTime>
  <Words>1451</Words>
  <Application>Microsoft Office PowerPoint</Application>
  <PresentationFormat>Widescreen</PresentationFormat>
  <Paragraphs>163</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Segoe UI</vt:lpstr>
      <vt:lpstr>Trebuchet MS</vt:lpstr>
      <vt:lpstr>Wingdings 3</vt:lpstr>
      <vt:lpstr>Facet</vt:lpstr>
      <vt:lpstr>Job Market Analysis </vt:lpstr>
      <vt:lpstr>Introduction to Job Market Analysis</vt:lpstr>
      <vt:lpstr>Problem Statement</vt:lpstr>
      <vt:lpstr>Objectives</vt:lpstr>
      <vt:lpstr>Data Source &amp; Database Connection</vt:lpstr>
      <vt:lpstr>Data Extraction Process</vt:lpstr>
      <vt:lpstr>Data Cleaning &amp; Preprocessing</vt:lpstr>
      <vt:lpstr>Feature Engineering</vt:lpstr>
      <vt:lpstr>Tools &amp; Technologies</vt:lpstr>
      <vt:lpstr>Dashboard Overview (Power BI)</vt:lpstr>
      <vt:lpstr>State-wise Job Distribution</vt:lpstr>
      <vt:lpstr>Salary Trends Across States</vt:lpstr>
      <vt:lpstr>Average Salary by State</vt:lpstr>
      <vt:lpstr>Top Industries 5 Industries for Data Science Roles </vt:lpstr>
      <vt:lpstr>Industry Demand</vt:lpstr>
      <vt:lpstr>Total Jobs by Company Name</vt:lpstr>
      <vt:lpstr>Job Titles with Most Number of Jobs</vt:lpstr>
      <vt:lpstr>Salary of Job Titles with Most Number of Jobs</vt:lpstr>
      <vt:lpstr>Skills Required by Companies</vt:lpstr>
      <vt:lpstr>Education vs Salary</vt:lpstr>
      <vt:lpstr>Average Salary vs Company Age</vt:lpstr>
      <vt:lpstr>Skills Demand</vt:lpstr>
      <vt:lpstr>Correlation Analysis</vt:lpstr>
      <vt:lpstr>Business Insights</vt:lpstr>
      <vt:lpstr>Challenges Faced</vt:lpstr>
      <vt:lpstr>Conclusion &amp; 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Market Analysis</dc:title>
  <dc:creator>Ayushman Dutta</dc:creator>
  <cp:lastModifiedBy>Ayushman Dutta</cp:lastModifiedBy>
  <cp:revision>19</cp:revision>
  <dcterms:created xsi:type="dcterms:W3CDTF">2026-04-27T12:41:38Z</dcterms:created>
  <dcterms:modified xsi:type="dcterms:W3CDTF">2026-05-05T17:12:57Z</dcterms:modified>
</cp:coreProperties>
</file>